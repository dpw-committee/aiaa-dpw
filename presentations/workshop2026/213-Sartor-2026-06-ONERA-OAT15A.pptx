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9" r:id="rId2"/>
    <p:sldId id="306" r:id="rId3"/>
    <p:sldId id="321" r:id="rId4"/>
    <p:sldId id="320" r:id="rId5"/>
    <p:sldId id="323" r:id="rId6"/>
    <p:sldId id="324" r:id="rId7"/>
    <p:sldId id="327" r:id="rId8"/>
    <p:sldId id="329" r:id="rId9"/>
    <p:sldId id="331" r:id="rId10"/>
    <p:sldId id="334" r:id="rId11"/>
    <p:sldId id="339" r:id="rId12"/>
    <p:sldId id="338" r:id="rId13"/>
    <p:sldId id="325" r:id="rId14"/>
    <p:sldId id="337" r:id="rId15"/>
  </p:sldIdLst>
  <p:sldSz cx="9144000" cy="5143500" type="screen16x9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00509A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00509A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00509A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00509A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00509A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b="1" kern="1200">
        <a:solidFill>
          <a:srgbClr val="00509A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b="1" kern="1200">
        <a:solidFill>
          <a:srgbClr val="00509A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b="1" kern="1200">
        <a:solidFill>
          <a:srgbClr val="00509A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b="1" kern="1200">
        <a:solidFill>
          <a:srgbClr val="00509A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486">
          <p15:clr>
            <a:srgbClr val="A4A3A4"/>
          </p15:clr>
        </p15:guide>
        <p15:guide id="2" orient="horz" pos="3106">
          <p15:clr>
            <a:srgbClr val="A4A3A4"/>
          </p15:clr>
        </p15:guide>
        <p15:guide id="3" orient="horz" pos="2970">
          <p15:clr>
            <a:srgbClr val="A4A3A4"/>
          </p15:clr>
        </p15:guide>
        <p15:guide id="4" pos="2880">
          <p15:clr>
            <a:srgbClr val="A4A3A4"/>
          </p15:clr>
        </p15:guide>
        <p15:guide id="5" pos="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09A"/>
    <a:srgbClr val="005C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 autoAdjust="0"/>
    <p:restoredTop sz="96340" autoAdjust="0"/>
  </p:normalViewPr>
  <p:slideViewPr>
    <p:cSldViewPr>
      <p:cViewPr varScale="1">
        <p:scale>
          <a:sx n="134" d="100"/>
          <a:sy n="134" d="100"/>
        </p:scale>
        <p:origin x="-942" y="-90"/>
      </p:cViewPr>
      <p:guideLst>
        <p:guide orient="horz" pos="486"/>
        <p:guide orient="horz" pos="3106"/>
        <p:guide orient="horz" pos="2970"/>
        <p:guide pos="2880"/>
        <p:guide pos="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-383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3FCAA6F-A638-FE4F-ADDF-8575B74D081B}" type="datetime1">
              <a:rPr lang="fr-FR"/>
              <a:pPr>
                <a:defRPr/>
              </a:pPr>
              <a:t>04/06/2026</a:t>
            </a:fld>
            <a:endParaRPr lang="fr-FR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AEC2C2B-2495-B448-8641-318A4CE4F38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40038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cs typeface="Geneva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cs typeface="Geneva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cs typeface="Geneva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cs typeface="Geneva" charset="0"/>
              </a:defRPr>
            </a:lvl1pPr>
          </a:lstStyle>
          <a:p>
            <a:pPr>
              <a:defRPr/>
            </a:pPr>
            <a:fld id="{61DCB9A4-1EA8-3640-83BB-3834C7EEC8B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75381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Geneva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charset="0"/>
        <a:cs typeface="Geneva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charset="0"/>
        <a:cs typeface="Geneva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charset="0"/>
        <a:cs typeface="Geneva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DCB9A4-1EA8-3640-83BB-3834C7EEC8B7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4775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DCB9A4-1EA8-3640-83BB-3834C7EEC8B7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529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DCB9A4-1EA8-3640-83BB-3834C7EEC8B7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4775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DCB9A4-1EA8-3640-83BB-3834C7EEC8B7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1997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DCB9A4-1EA8-3640-83BB-3834C7EEC8B7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7878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DCB9A4-1EA8-3640-83BB-3834C7EEC8B7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499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DCB9A4-1EA8-3640-83BB-3834C7EEC8B7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5143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DCB9A4-1EA8-3640-83BB-3834C7EEC8B7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855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DCB9A4-1EA8-3640-83BB-3834C7EEC8B7}" type="slidenum">
              <a:rPr lang="fr-FR" smtClean="0"/>
              <a:pPr>
                <a:defRPr/>
              </a:pPr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4851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DCB9A4-1EA8-3640-83BB-3834C7EEC8B7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2004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DCB9A4-1EA8-3640-83BB-3834C7EEC8B7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921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DCB9A4-1EA8-3640-83BB-3834C7EEC8B7}" type="slidenum">
              <a:rPr lang="fr-FR" smtClean="0"/>
              <a:pPr>
                <a:defRPr/>
              </a:pPr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4996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DCB9A4-1EA8-3640-83BB-3834C7EEC8B7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1840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66700" y="1978546"/>
            <a:ext cx="7658100" cy="857250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</a:lstStyle>
          <a:p>
            <a:pPr lvl="0"/>
            <a:r>
              <a:rPr lang="fr-FR" noProof="0" dirty="0"/>
              <a:t>Cliquez et modifiez le titre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6700" y="2931790"/>
            <a:ext cx="8049716" cy="1314450"/>
          </a:xfr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noProof="0" dirty="0"/>
              <a:t>Cliquez pour modifier le style des sous-titres du masque</a:t>
            </a: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02B04C-38D0-FF45-91F5-19D3972525CD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7" name="Image 4" descr="Logo Oner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888" y="361950"/>
            <a:ext cx="3751262" cy="84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 2" descr="Logo RF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06363"/>
            <a:ext cx="140970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996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souligné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6700" y="0"/>
            <a:ext cx="8788400" cy="483518"/>
          </a:xfrm>
        </p:spPr>
        <p:txBody>
          <a:bodyPr/>
          <a:lstStyle/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2000" y="4726384"/>
            <a:ext cx="762000" cy="360040"/>
          </a:xfrm>
          <a:ln/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1EEDFC2C-F9B9-0445-A511-DA4552EF3EEB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6" name="Connecteur droit 5"/>
          <p:cNvCxnSpPr/>
          <p:nvPr userDrawn="1"/>
        </p:nvCxnSpPr>
        <p:spPr bwMode="auto">
          <a:xfrm>
            <a:off x="266700" y="483518"/>
            <a:ext cx="8877300" cy="0"/>
          </a:xfrm>
          <a:prstGeom prst="line">
            <a:avLst/>
          </a:prstGeom>
          <a:noFill/>
          <a:ln w="9525" cap="flat" cmpd="sng" algn="ctr">
            <a:solidFill>
              <a:srgbClr val="11489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7" name="Espace réservé du pied de page 2"/>
          <p:cNvSpPr txBox="1">
            <a:spLocks/>
          </p:cNvSpPr>
          <p:nvPr userDrawn="1"/>
        </p:nvSpPr>
        <p:spPr>
          <a:xfrm>
            <a:off x="4211960" y="4731960"/>
            <a:ext cx="4176464" cy="36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200" noProof="0" dirty="0">
                <a:solidFill>
                  <a:schemeClr val="bg2"/>
                </a:solidFill>
              </a:rPr>
              <a:t>June 2026 – C. </a:t>
            </a:r>
            <a:r>
              <a:rPr lang="en-US" sz="1200" noProof="0" dirty="0" err="1">
                <a:solidFill>
                  <a:schemeClr val="bg2"/>
                </a:solidFill>
              </a:rPr>
              <a:t>Fournis</a:t>
            </a:r>
            <a:endParaRPr lang="en-US" sz="1200" noProof="0" dirty="0">
              <a:solidFill>
                <a:schemeClr val="bg2"/>
              </a:solidFill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xmlns="" id="{5F7D8A32-AA86-44C6-A58E-185DA47F46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043" y="4659982"/>
            <a:ext cx="457073" cy="45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31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66700" y="0"/>
            <a:ext cx="8788400" cy="769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et modifiez le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275160"/>
            <a:ext cx="7772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82000" y="4634830"/>
            <a:ext cx="762000" cy="508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0">
                <a:solidFill>
                  <a:schemeClr val="tx1"/>
                </a:solidFill>
                <a:cs typeface="Geneva" charset="0"/>
              </a:defRPr>
            </a:lvl1pPr>
          </a:lstStyle>
          <a:p>
            <a:pPr>
              <a:defRPr/>
            </a:pPr>
            <a:fld id="{99F0CAB2-14CD-3845-84B5-C89C4150BD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9" name="Image 4" descr="Logo Onera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4724400"/>
            <a:ext cx="14732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21" descr="Logo RF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" y="4643438"/>
            <a:ext cx="5492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necteur droit 10"/>
          <p:cNvCxnSpPr/>
          <p:nvPr userDrawn="1"/>
        </p:nvCxnSpPr>
        <p:spPr bwMode="auto">
          <a:xfrm>
            <a:off x="266700" y="4643438"/>
            <a:ext cx="8877300" cy="0"/>
          </a:xfrm>
          <a:prstGeom prst="line">
            <a:avLst/>
          </a:prstGeom>
          <a:noFill/>
          <a:ln w="9525" cap="flat" cmpd="sng" algn="ctr">
            <a:solidFill>
              <a:srgbClr val="11489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60" r:id="rId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509A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509A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509A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509A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509A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rgbClr val="00509A"/>
          </a:solidFill>
          <a:latin typeface="Arial" charset="0"/>
          <a:ea typeface="ＭＳ Ｐゴシック" charset="0"/>
          <a:cs typeface="Geneva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rgbClr val="00509A"/>
          </a:solidFill>
          <a:latin typeface="Arial" charset="0"/>
          <a:ea typeface="ＭＳ Ｐゴシック" charset="0"/>
          <a:cs typeface="Geneva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rgbClr val="00509A"/>
          </a:solidFill>
          <a:latin typeface="Arial" charset="0"/>
          <a:ea typeface="ＭＳ Ｐゴシック" charset="0"/>
          <a:cs typeface="Geneva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rgbClr val="00509A"/>
          </a:solidFill>
          <a:latin typeface="Arial" charset="0"/>
          <a:ea typeface="ＭＳ Ｐゴシック" charset="0"/>
          <a:cs typeface="Genev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Geneva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Geneva" charset="0"/>
          <a:cs typeface="+mn-cs"/>
        </a:defRPr>
      </a:lvl4pPr>
      <a:lvl5pPr marL="1971675" indent="-17938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Geneva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charset="0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re 6"/>
          <p:cNvSpPr>
            <a:spLocks noGrp="1"/>
          </p:cNvSpPr>
          <p:nvPr>
            <p:ph type="ctrTitle"/>
          </p:nvPr>
        </p:nvSpPr>
        <p:spPr>
          <a:xfrm>
            <a:off x="179512" y="1347614"/>
            <a:ext cx="8618288" cy="1368152"/>
          </a:xfrm>
        </p:spPr>
        <p:txBody>
          <a:bodyPr/>
          <a:lstStyle/>
          <a:p>
            <a:pPr algn="ctr"/>
            <a:r>
              <a:rPr lang="en-GB" dirty="0"/>
              <a:t>Review of 2D buffet simulations</a:t>
            </a:r>
            <a:br>
              <a:rPr lang="en-GB" dirty="0"/>
            </a:br>
            <a:r>
              <a:rPr lang="en-GB" dirty="0"/>
              <a:t>on OAT15A profile</a:t>
            </a:r>
            <a:endParaRPr lang="fr-FR" dirty="0">
              <a:latin typeface="Arial" charset="0"/>
              <a:ea typeface="ＭＳ Ｐゴシック" charset="0"/>
            </a:endParaRPr>
          </a:p>
        </p:txBody>
      </p:sp>
      <p:sp>
        <p:nvSpPr>
          <p:cNvPr id="5" name="ZoneTexte 1"/>
          <p:cNvSpPr txBox="1">
            <a:spLocks noChangeArrowheads="1"/>
          </p:cNvSpPr>
          <p:nvPr/>
        </p:nvSpPr>
        <p:spPr bwMode="auto">
          <a:xfrm>
            <a:off x="130176" y="4659982"/>
            <a:ext cx="89058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00509A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00509A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00509A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00509A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509A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509A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509A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509A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fr-FR" sz="800" b="0" dirty="0">
                <a:solidFill>
                  <a:schemeClr val="bg2"/>
                </a:solidFill>
              </a:rPr>
              <a:t>Ce document est la propriété de l'ONERA. Il ne peut être communiqué à des tiers et/ou reproduit sans l'autorisation préalable écrite de l'ONERA, et son contenu ne peut être divulgué. </a:t>
            </a:r>
            <a:br>
              <a:rPr lang="fr-FR" sz="800" b="0" dirty="0">
                <a:solidFill>
                  <a:schemeClr val="bg2"/>
                </a:solidFill>
              </a:rPr>
            </a:br>
            <a:r>
              <a:rPr lang="fr-FR" sz="800" b="0" i="1" dirty="0">
                <a:solidFill>
                  <a:schemeClr val="bg2"/>
                </a:solidFill>
              </a:rPr>
              <a:t>This document and the information </a:t>
            </a:r>
            <a:r>
              <a:rPr lang="fr-FR" sz="800" b="0" i="1" dirty="0" err="1">
                <a:solidFill>
                  <a:schemeClr val="bg2"/>
                </a:solidFill>
              </a:rPr>
              <a:t>contained</a:t>
            </a:r>
            <a:r>
              <a:rPr lang="fr-FR" sz="800" b="0" i="1" dirty="0">
                <a:solidFill>
                  <a:schemeClr val="bg2"/>
                </a:solidFill>
              </a:rPr>
              <a:t> </a:t>
            </a:r>
            <a:r>
              <a:rPr lang="fr-FR" sz="800" b="0" i="1" dirty="0" err="1">
                <a:solidFill>
                  <a:schemeClr val="bg2"/>
                </a:solidFill>
              </a:rPr>
              <a:t>herein</a:t>
            </a:r>
            <a:r>
              <a:rPr lang="fr-FR" sz="800" b="0" i="1" dirty="0">
                <a:solidFill>
                  <a:schemeClr val="bg2"/>
                </a:solidFill>
              </a:rPr>
              <a:t> </a:t>
            </a:r>
            <a:r>
              <a:rPr lang="fr-FR" sz="800" b="0" i="1" dirty="0" err="1">
                <a:solidFill>
                  <a:schemeClr val="bg2"/>
                </a:solidFill>
              </a:rPr>
              <a:t>is</a:t>
            </a:r>
            <a:r>
              <a:rPr lang="fr-FR" sz="800" b="0" i="1" dirty="0">
                <a:solidFill>
                  <a:schemeClr val="bg2"/>
                </a:solidFill>
              </a:rPr>
              <a:t> </a:t>
            </a:r>
            <a:r>
              <a:rPr lang="fr-FR" sz="800" b="0" i="1" dirty="0" err="1">
                <a:solidFill>
                  <a:schemeClr val="bg2"/>
                </a:solidFill>
              </a:rPr>
              <a:t>proprietary</a:t>
            </a:r>
            <a:r>
              <a:rPr lang="fr-FR" sz="800" b="0" i="1" dirty="0">
                <a:solidFill>
                  <a:schemeClr val="bg2"/>
                </a:solidFill>
              </a:rPr>
              <a:t> information of ONERA and </a:t>
            </a:r>
            <a:r>
              <a:rPr lang="fr-FR" sz="800" b="0" i="1" dirty="0" err="1">
                <a:solidFill>
                  <a:schemeClr val="bg2"/>
                </a:solidFill>
              </a:rPr>
              <a:t>shall</a:t>
            </a:r>
            <a:r>
              <a:rPr lang="fr-FR" sz="800" b="0" i="1" dirty="0">
                <a:solidFill>
                  <a:schemeClr val="bg2"/>
                </a:solidFill>
              </a:rPr>
              <a:t> not </a:t>
            </a:r>
            <a:r>
              <a:rPr lang="fr-FR" sz="800" b="0" i="1" dirty="0" err="1">
                <a:solidFill>
                  <a:schemeClr val="bg2"/>
                </a:solidFill>
              </a:rPr>
              <a:t>be</a:t>
            </a:r>
            <a:r>
              <a:rPr lang="fr-FR" sz="800" b="0" i="1" dirty="0">
                <a:solidFill>
                  <a:schemeClr val="bg2"/>
                </a:solidFill>
              </a:rPr>
              <a:t> </a:t>
            </a:r>
            <a:r>
              <a:rPr lang="fr-FR" sz="800" b="0" i="1" dirty="0" err="1">
                <a:solidFill>
                  <a:schemeClr val="bg2"/>
                </a:solidFill>
              </a:rPr>
              <a:t>disclosed</a:t>
            </a:r>
            <a:r>
              <a:rPr lang="fr-FR" sz="800" b="0" i="1" dirty="0">
                <a:solidFill>
                  <a:schemeClr val="bg2"/>
                </a:solidFill>
              </a:rPr>
              <a:t> or </a:t>
            </a:r>
            <a:r>
              <a:rPr lang="fr-FR" sz="800" b="0" i="1" dirty="0" err="1">
                <a:solidFill>
                  <a:schemeClr val="bg2"/>
                </a:solidFill>
              </a:rPr>
              <a:t>reproduced</a:t>
            </a:r>
            <a:r>
              <a:rPr lang="fr-FR" sz="800" b="0" i="1" dirty="0">
                <a:solidFill>
                  <a:schemeClr val="bg2"/>
                </a:solidFill>
              </a:rPr>
              <a:t> </a:t>
            </a:r>
            <a:r>
              <a:rPr lang="fr-FR" sz="800" b="0" i="1" dirty="0" err="1">
                <a:solidFill>
                  <a:schemeClr val="bg2"/>
                </a:solidFill>
              </a:rPr>
              <a:t>without</a:t>
            </a:r>
            <a:r>
              <a:rPr lang="fr-FR" sz="800" b="0" i="1" dirty="0">
                <a:solidFill>
                  <a:schemeClr val="bg2"/>
                </a:solidFill>
              </a:rPr>
              <a:t> the </a:t>
            </a:r>
            <a:r>
              <a:rPr lang="fr-FR" sz="800" b="0" i="1" dirty="0" err="1">
                <a:solidFill>
                  <a:schemeClr val="bg2"/>
                </a:solidFill>
              </a:rPr>
              <a:t>prior</a:t>
            </a:r>
            <a:r>
              <a:rPr lang="fr-FR" sz="800" b="0" i="1" dirty="0">
                <a:solidFill>
                  <a:schemeClr val="bg2"/>
                </a:solidFill>
              </a:rPr>
              <a:t> </a:t>
            </a:r>
            <a:r>
              <a:rPr lang="fr-FR" sz="800" b="0" i="1" dirty="0" err="1">
                <a:solidFill>
                  <a:schemeClr val="bg2"/>
                </a:solidFill>
              </a:rPr>
              <a:t>authorization</a:t>
            </a:r>
            <a:r>
              <a:rPr lang="fr-FR" sz="800" b="0" i="1" dirty="0">
                <a:solidFill>
                  <a:schemeClr val="bg2"/>
                </a:solidFill>
              </a:rPr>
              <a:t> of ONERA.</a:t>
            </a:r>
          </a:p>
        </p:txBody>
      </p:sp>
      <p:sp>
        <p:nvSpPr>
          <p:cNvPr id="6" name="Sous-titre 7"/>
          <p:cNvSpPr txBox="1">
            <a:spLocks/>
          </p:cNvSpPr>
          <p:nvPr/>
        </p:nvSpPr>
        <p:spPr bwMode="auto">
          <a:xfrm>
            <a:off x="179512" y="3003798"/>
            <a:ext cx="8618288" cy="1248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chemeClr val="bg2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4pPr>
            <a:lvl5pPr marL="1971675" indent="-1793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9pPr>
          </a:lstStyle>
          <a:p>
            <a:pPr algn="ctr"/>
            <a:r>
              <a:rPr lang="en-GB" sz="2000" b="0" kern="0" dirty="0">
                <a:latin typeface="Arial" charset="0"/>
                <a:ea typeface="ＭＳ Ｐゴシック" charset="0"/>
              </a:rPr>
              <a:t>F. Sartor, C. </a:t>
            </a:r>
            <a:r>
              <a:rPr lang="en-GB" sz="2000" b="0" kern="0" dirty="0" err="1">
                <a:latin typeface="Arial" charset="0"/>
                <a:ea typeface="ＭＳ Ｐゴシック" charset="0"/>
              </a:rPr>
              <a:t>Fournis</a:t>
            </a:r>
            <a:r>
              <a:rPr lang="en-GB" sz="2000" b="0" kern="0" dirty="0">
                <a:latin typeface="Arial" charset="0"/>
                <a:ea typeface="ＭＳ Ｐゴシック" charset="0"/>
              </a:rPr>
              <a:t> (presenter)</a:t>
            </a:r>
          </a:p>
          <a:p>
            <a:pPr algn="ctr"/>
            <a:r>
              <a:rPr lang="en-GB" sz="2000" b="0" kern="0" dirty="0">
                <a:latin typeface="Arial" charset="0"/>
                <a:ea typeface="ＭＳ Ｐゴシック" charset="0"/>
              </a:rPr>
              <a:t>ONERA - DAAA/ACI</a:t>
            </a:r>
          </a:p>
          <a:p>
            <a:pPr algn="ctr"/>
            <a:r>
              <a:rPr lang="en-GB" sz="1800" b="0" kern="0" dirty="0">
                <a:latin typeface="Arial" charset="0"/>
                <a:ea typeface="ＭＳ Ｐゴシック" charset="0"/>
              </a:rPr>
              <a:t>June 2026</a:t>
            </a: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xmlns="" id="{1D13E82A-9166-4D3A-AD78-0AE6E7FC8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2908145"/>
            <a:ext cx="1565220" cy="1440000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F65E81BB-EBC3-4B4B-8673-8181488B6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61" y="2908145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89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51519" y="0"/>
            <a:ext cx="8574983" cy="483518"/>
          </a:xfrm>
        </p:spPr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EDFC2C-F9B9-0445-A511-DA4552EF3EEB}" type="slidenum">
              <a:rPr lang="fr-FR" smtClean="0"/>
              <a:pPr>
                <a:defRPr/>
              </a:pPr>
              <a:t>1</a:t>
            </a:fld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251518" y="987574"/>
            <a:ext cx="583264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/>
              <a:t>Introduction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b="0" dirty="0"/>
              <a:t>Overview work performed on OAT15A within DPW-8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b="0" dirty="0"/>
              <a:t>Grids and approach</a:t>
            </a:r>
            <a:endParaRPr lang="en-GB" sz="20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/>
              <a:t>Simulations using </a:t>
            </a:r>
            <a:r>
              <a:rPr lang="en-GB" sz="2000" b="0" i="1" dirty="0" err="1"/>
              <a:t>elsA</a:t>
            </a:r>
            <a:endParaRPr lang="en-GB" sz="2000" b="0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b="0" dirty="0"/>
              <a:t>Steady-state simulations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b="0" dirty="0"/>
              <a:t>Time-accurate simulations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/>
              <a:t>Comparison with experimental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224363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51519" y="0"/>
            <a:ext cx="8574983" cy="483518"/>
          </a:xfrm>
        </p:spPr>
        <p:txBody>
          <a:bodyPr/>
          <a:lstStyle/>
          <a:p>
            <a:r>
              <a:rPr lang="en-GB" dirty="0"/>
              <a:t>Introduction: DPW-8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EDFC2C-F9B9-0445-A511-DA4552EF3EEB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8" name="Oval 3">
            <a:extLst>
              <a:ext uri="{FF2B5EF4-FFF2-40B4-BE49-F238E27FC236}">
                <a16:creationId xmlns:a16="http://schemas.microsoft.com/office/drawing/2014/main" xmlns="" id="{15DDD5BB-4BA3-4F62-B502-1D5B9DE9B1AF}"/>
              </a:ext>
            </a:extLst>
          </p:cNvPr>
          <p:cNvSpPr/>
          <p:nvPr/>
        </p:nvSpPr>
        <p:spPr>
          <a:xfrm>
            <a:off x="1361861" y="954884"/>
            <a:ext cx="3526200" cy="994144"/>
          </a:xfrm>
          <a:prstGeom prst="ellipse">
            <a:avLst/>
          </a:prstGeom>
          <a:solidFill>
            <a:schemeClr val="tx1">
              <a:alpha val="2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xmlns="" id="{D3BD8EC7-0117-4BD8-86FB-72F59CCBA676}"/>
              </a:ext>
            </a:extLst>
          </p:cNvPr>
          <p:cNvSpPr/>
          <p:nvPr/>
        </p:nvSpPr>
        <p:spPr>
          <a:xfrm>
            <a:off x="3596303" y="956377"/>
            <a:ext cx="3526200" cy="994144"/>
          </a:xfrm>
          <a:prstGeom prst="ellipse">
            <a:avLst/>
          </a:prstGeom>
          <a:solidFill>
            <a:schemeClr val="accent6">
              <a:lumMod val="75000"/>
              <a:alpha val="3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xmlns="" id="{E2B10FB9-438A-4AAA-9A3D-1D239936DF95}"/>
              </a:ext>
            </a:extLst>
          </p:cNvPr>
          <p:cNvSpPr txBox="1"/>
          <p:nvPr/>
        </p:nvSpPr>
        <p:spPr>
          <a:xfrm>
            <a:off x="2727928" y="655392"/>
            <a:ext cx="7940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800" b="1" dirty="0">
                <a:latin typeface="Century Gothic" panose="020B0502020202020204" pitchFamily="34" charset="0"/>
              </a:rPr>
              <a:t>DPW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xmlns="" id="{21DAFD41-098A-4B3D-8E3D-DEA846D2A8F7}"/>
              </a:ext>
            </a:extLst>
          </p:cNvPr>
          <p:cNvSpPr txBox="1"/>
          <p:nvPr/>
        </p:nvSpPr>
        <p:spPr>
          <a:xfrm>
            <a:off x="4937399" y="621157"/>
            <a:ext cx="104369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rPr>
              <a:t>AePW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xmlns="" id="{7B6E9B55-1C25-4620-93FF-BB4188791CCA}"/>
              </a:ext>
            </a:extLst>
          </p:cNvPr>
          <p:cNvSpPr txBox="1"/>
          <p:nvPr/>
        </p:nvSpPr>
        <p:spPr>
          <a:xfrm>
            <a:off x="1920375" y="1068049"/>
            <a:ext cx="151975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latin typeface="Century Gothic" panose="020B0502020202020204" pitchFamily="34" charset="0"/>
              </a:rPr>
              <a:t>Sources of </a:t>
            </a:r>
          </a:p>
          <a:p>
            <a:pPr algn="ctr"/>
            <a:r>
              <a:rPr lang="en-US" sz="1200" b="1" dirty="0">
                <a:latin typeface="Century Gothic" panose="020B0502020202020204" pitchFamily="34" charset="0"/>
              </a:rPr>
              <a:t>DPW-7 Scatter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xmlns="" id="{B6C00B2F-1052-4749-B3CD-03EC2BD18311}"/>
              </a:ext>
            </a:extLst>
          </p:cNvPr>
          <p:cNvSpPr txBox="1"/>
          <p:nvPr/>
        </p:nvSpPr>
        <p:spPr>
          <a:xfrm>
            <a:off x="2195819" y="1559658"/>
            <a:ext cx="138750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latin typeface="Century Gothic" panose="020B0502020202020204" pitchFamily="34" charset="0"/>
              </a:rPr>
              <a:t>Test Environment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xmlns="" id="{31591692-B291-4390-A444-F6B9ED69EF53}"/>
              </a:ext>
            </a:extLst>
          </p:cNvPr>
          <p:cNvSpPr txBox="1"/>
          <p:nvPr/>
        </p:nvSpPr>
        <p:spPr>
          <a:xfrm>
            <a:off x="4859703" y="1080647"/>
            <a:ext cx="12021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rPr>
              <a:t>High Angle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xmlns="" id="{8CA5A628-78CD-4B06-82F3-089B40B0F1F6}"/>
              </a:ext>
            </a:extLst>
          </p:cNvPr>
          <p:cNvSpPr txBox="1"/>
          <p:nvPr/>
        </p:nvSpPr>
        <p:spPr>
          <a:xfrm>
            <a:off x="3729972" y="1129686"/>
            <a:ext cx="111675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5F4E4B"/>
                </a:solidFill>
                <a:latin typeface="Century Gothic" panose="020B0502020202020204" pitchFamily="34" charset="0"/>
              </a:rPr>
              <a:t>Static Aeroelastics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xmlns="" id="{4FBBC52C-98E8-40CD-BFC8-8A04EBB03FB3}"/>
              </a:ext>
            </a:extLst>
          </p:cNvPr>
          <p:cNvSpPr txBox="1"/>
          <p:nvPr/>
        </p:nvSpPr>
        <p:spPr>
          <a:xfrm>
            <a:off x="5610335" y="1349818"/>
            <a:ext cx="141394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rPr>
              <a:t>Large Deflection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xmlns="" id="{BCC4FFCF-DB53-44CD-9D90-130908D52D6C}"/>
              </a:ext>
            </a:extLst>
          </p:cNvPr>
          <p:cNvSpPr txBox="1"/>
          <p:nvPr/>
        </p:nvSpPr>
        <p:spPr>
          <a:xfrm>
            <a:off x="4877987" y="1613370"/>
            <a:ext cx="1162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rPr>
              <a:t>High Speed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xmlns="" id="{D850B82D-EC5C-464F-ABA5-1478EB0BB5A5}"/>
              </a:ext>
            </a:extLst>
          </p:cNvPr>
          <p:cNvSpPr txBox="1"/>
          <p:nvPr/>
        </p:nvSpPr>
        <p:spPr>
          <a:xfrm>
            <a:off x="3658820" y="1546544"/>
            <a:ext cx="111675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5F4E4B"/>
                </a:solidFill>
                <a:latin typeface="Century Gothic" panose="020B0502020202020204" pitchFamily="34" charset="0"/>
              </a:rPr>
              <a:t>Buffet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8086BDB9-8E0C-4B24-9167-980E03D27E70}"/>
              </a:ext>
            </a:extLst>
          </p:cNvPr>
          <p:cNvSpPr/>
          <p:nvPr/>
        </p:nvSpPr>
        <p:spPr>
          <a:xfrm>
            <a:off x="234720" y="3495613"/>
            <a:ext cx="8574983" cy="92333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dirty="0"/>
              <a:t>WG#3 Buffet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u="sng" dirty="0"/>
              <a:t>Test case 1: OAT15A simulations (steady/unsteady)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Test case 2 and 3: CRM, not discussed here</a:t>
            </a:r>
            <a:endParaRPr lang="fr-FR" sz="1600" b="0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xmlns="" id="{876D7527-7EA0-4D67-A037-A04E10849CEF}"/>
              </a:ext>
            </a:extLst>
          </p:cNvPr>
          <p:cNvSpPr/>
          <p:nvPr/>
        </p:nvSpPr>
        <p:spPr bwMode="auto">
          <a:xfrm>
            <a:off x="3847547" y="1511493"/>
            <a:ext cx="764095" cy="24876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xmlns="" id="{20AA52ED-5E6A-4C59-9BC6-E664856E688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552435" y="1744324"/>
            <a:ext cx="1921996" cy="40176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4" name="TextBox 6">
            <a:extLst>
              <a:ext uri="{FF2B5EF4-FFF2-40B4-BE49-F238E27FC236}">
                <a16:creationId xmlns:a16="http://schemas.microsoft.com/office/drawing/2014/main" xmlns="" id="{397A3568-0832-40DA-AB96-206F33925241}"/>
              </a:ext>
            </a:extLst>
          </p:cNvPr>
          <p:cNvSpPr txBox="1"/>
          <p:nvPr/>
        </p:nvSpPr>
        <p:spPr>
          <a:xfrm>
            <a:off x="6444208" y="1927925"/>
            <a:ext cx="135659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entury Gothic" panose="020B0502020202020204" pitchFamily="34" charset="0"/>
              </a:rPr>
              <a:t>Focus of this presentation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D3AAACD5-1E86-402F-9520-403A4D48CE0B}"/>
              </a:ext>
            </a:extLst>
          </p:cNvPr>
          <p:cNvSpPr/>
          <p:nvPr/>
        </p:nvSpPr>
        <p:spPr>
          <a:xfrm>
            <a:off x="234720" y="2499742"/>
            <a:ext cx="8574983" cy="92333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dirty="0"/>
              <a:t>DPW and </a:t>
            </a:r>
            <a:r>
              <a:rPr lang="en-US" sz="1800" dirty="0" err="1"/>
              <a:t>AePW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ONERA involved in many activities, mainly in DPW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DAAA/ACI </a:t>
            </a:r>
            <a:r>
              <a:rPr lang="en-US" sz="1800" b="0" dirty="0" smtClean="0"/>
              <a:t>contributed to </a:t>
            </a:r>
            <a:r>
              <a:rPr lang="en-US" sz="1800" b="0" dirty="0"/>
              <a:t>Buffet and Scatter Working </a:t>
            </a:r>
            <a:r>
              <a:rPr lang="en-US" sz="1800" b="0" dirty="0" smtClean="0"/>
              <a:t>Group (elsA and CODA)</a:t>
            </a:r>
            <a:endParaRPr lang="fr-FR" sz="1600" b="0" dirty="0"/>
          </a:p>
        </p:txBody>
      </p:sp>
    </p:spTree>
    <p:extLst>
      <p:ext uri="{BB962C8B-B14F-4D97-AF65-F5344CB8AC3E}">
        <p14:creationId xmlns:p14="http://schemas.microsoft.com/office/powerpoint/2010/main" val="1507051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5" grpId="0"/>
      <p:bldP spid="3" grpId="0" animBg="1"/>
      <p:bldP spid="24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51519" y="0"/>
            <a:ext cx="8574983" cy="483518"/>
          </a:xfrm>
        </p:spPr>
        <p:txBody>
          <a:bodyPr/>
          <a:lstStyle/>
          <a:p>
            <a:r>
              <a:rPr lang="en-GB" dirty="0"/>
              <a:t>Introduction: Test case 1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EDFC2C-F9B9-0445-A511-DA4552EF3EEB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xmlns="" id="{81EDACD8-AB64-4FF2-B450-0A99BCA2F3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324"/>
          <a:stretch/>
        </p:blipFill>
        <p:spPr>
          <a:xfrm>
            <a:off x="7074113" y="9016"/>
            <a:ext cx="1847286" cy="46622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61975533-A49F-441F-AB0C-752DCC905420}"/>
              </a:ext>
            </a:extLst>
          </p:cNvPr>
          <p:cNvSpPr/>
          <p:nvPr/>
        </p:nvSpPr>
        <p:spPr>
          <a:xfrm>
            <a:off x="7092280" y="1837677"/>
            <a:ext cx="179662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b="0" dirty="0"/>
              <a:t>Experiments from </a:t>
            </a:r>
            <a:r>
              <a:rPr lang="en-GB" sz="900" b="0" dirty="0" err="1"/>
              <a:t>Jacquin</a:t>
            </a:r>
            <a:r>
              <a:rPr lang="en-GB" sz="900" b="0" dirty="0"/>
              <a:t> et al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DA254EFD-BC28-4B69-B365-240AF4481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280" y="555526"/>
            <a:ext cx="1796624" cy="12995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2493CA9E-9DE4-493F-A2EF-0E32B76B86CE}"/>
              </a:ext>
            </a:extLst>
          </p:cNvPr>
          <p:cNvSpPr/>
          <p:nvPr/>
        </p:nvSpPr>
        <p:spPr>
          <a:xfrm>
            <a:off x="352256" y="3777301"/>
            <a:ext cx="925401" cy="553998"/>
          </a:xfrm>
          <a:prstGeom prst="rect">
            <a:avLst/>
          </a:prstGeom>
          <a:ln>
            <a:solidFill>
              <a:srgbClr val="00509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/>
              <a:t>Solver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sz="1200" b="0" dirty="0" err="1"/>
              <a:t>elsA</a:t>
            </a:r>
            <a:endParaRPr lang="en-US" sz="1100" b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3634349F-0F05-40F4-87F6-5B7D741A668A}"/>
              </a:ext>
            </a:extLst>
          </p:cNvPr>
          <p:cNvSpPr/>
          <p:nvPr/>
        </p:nvSpPr>
        <p:spPr>
          <a:xfrm>
            <a:off x="1572593" y="3777302"/>
            <a:ext cx="925401" cy="738664"/>
          </a:xfrm>
          <a:prstGeom prst="rect">
            <a:avLst/>
          </a:prstGeom>
          <a:ln>
            <a:solidFill>
              <a:srgbClr val="00509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/>
              <a:t>Grids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sz="1200" b="0" dirty="0"/>
              <a:t>Supplied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sz="1200" b="0" dirty="0"/>
              <a:t>Custom</a:t>
            </a:r>
            <a:endParaRPr lang="en-US" sz="1100" b="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E2A093B9-BF62-486E-9774-24B0AA6089BD}"/>
              </a:ext>
            </a:extLst>
          </p:cNvPr>
          <p:cNvSpPr/>
          <p:nvPr/>
        </p:nvSpPr>
        <p:spPr>
          <a:xfrm>
            <a:off x="6118415" y="3777301"/>
            <a:ext cx="1116197" cy="553998"/>
          </a:xfrm>
          <a:prstGeom prst="rect">
            <a:avLst/>
          </a:prstGeom>
          <a:ln>
            <a:solidFill>
              <a:srgbClr val="00509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/>
              <a:t>Scheme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sz="1200" b="0" dirty="0"/>
              <a:t>Any</a:t>
            </a:r>
            <a:endParaRPr lang="en-US" sz="1600" b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E8B36103-FA7F-4BBC-AA1C-A0750336EA0A}"/>
              </a:ext>
            </a:extLst>
          </p:cNvPr>
          <p:cNvSpPr/>
          <p:nvPr/>
        </p:nvSpPr>
        <p:spPr>
          <a:xfrm>
            <a:off x="2792360" y="3777302"/>
            <a:ext cx="1241092" cy="738664"/>
          </a:xfrm>
          <a:prstGeom prst="rect">
            <a:avLst/>
          </a:prstGeom>
          <a:ln>
            <a:solidFill>
              <a:srgbClr val="00509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/>
              <a:t>Approach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sz="1200" b="0" dirty="0"/>
              <a:t>RANS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sz="1200" b="0" dirty="0"/>
              <a:t>URANS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5B0818F5-9CAE-4FA7-A874-E22855CC9F91}"/>
              </a:ext>
            </a:extLst>
          </p:cNvPr>
          <p:cNvSpPr/>
          <p:nvPr/>
        </p:nvSpPr>
        <p:spPr>
          <a:xfrm>
            <a:off x="4336802" y="3777302"/>
            <a:ext cx="1483279" cy="738664"/>
          </a:xfrm>
          <a:prstGeom prst="rect">
            <a:avLst/>
          </a:prstGeom>
          <a:ln>
            <a:solidFill>
              <a:srgbClr val="00509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 err="1"/>
              <a:t>Turb</a:t>
            </a:r>
            <a:r>
              <a:rPr lang="en-US" sz="1800" b="0" dirty="0"/>
              <a:t>. Model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sz="1200" b="0" dirty="0"/>
              <a:t>Mainly SA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sz="1200" b="0" dirty="0"/>
              <a:t>Other tested</a:t>
            </a:r>
            <a:endParaRPr lang="en-US" sz="1100" b="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BF48C97A-E7BF-4769-9DE9-E5D5E55CC237}"/>
              </a:ext>
            </a:extLst>
          </p:cNvPr>
          <p:cNvSpPr/>
          <p:nvPr/>
        </p:nvSpPr>
        <p:spPr>
          <a:xfrm>
            <a:off x="7531675" y="3777301"/>
            <a:ext cx="1486367" cy="738664"/>
          </a:xfrm>
          <a:prstGeom prst="rect">
            <a:avLst/>
          </a:prstGeom>
          <a:ln>
            <a:solidFill>
              <a:srgbClr val="00509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 err="1"/>
              <a:t>AoA</a:t>
            </a:r>
            <a:endParaRPr lang="en-US" sz="1800" b="0" dirty="0"/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sz="1200" b="0" dirty="0"/>
              <a:t>1.36°- 3.90°</a:t>
            </a:r>
          </a:p>
          <a:p>
            <a:r>
              <a:rPr lang="en-US" sz="1200" b="0" i="1" dirty="0"/>
              <a:t>10 in total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BA9A22D0-ABD7-4D93-922A-8BFE99768295}"/>
              </a:ext>
            </a:extLst>
          </p:cNvPr>
          <p:cNvSpPr/>
          <p:nvPr/>
        </p:nvSpPr>
        <p:spPr>
          <a:xfrm>
            <a:off x="228307" y="621496"/>
            <a:ext cx="6791965" cy="123110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/>
              <a:t>OAT15A</a:t>
            </a:r>
            <a:endParaRPr lang="en-US" sz="1600" b="0" dirty="0"/>
          </a:p>
          <a:p>
            <a:r>
              <a:rPr lang="en-US" sz="1600" b="0" dirty="0">
                <a:sym typeface="Wingdings" panose="05000000000000000000" pitchFamily="2" charset="2"/>
              </a:rPr>
              <a:t> R</a:t>
            </a:r>
            <a:r>
              <a:rPr lang="en-US" sz="1600" b="0" dirty="0"/>
              <a:t>eference for 2D buffet since </a:t>
            </a:r>
            <a:r>
              <a:rPr lang="en-US" sz="1600" b="0" dirty="0" err="1"/>
              <a:t>Jacquin</a:t>
            </a:r>
            <a:r>
              <a:rPr lang="en-US" sz="1600" b="0" dirty="0"/>
              <a:t> et al. (2009)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ONERA shared CAD files with geometry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Experimental data: Cp, Cp</a:t>
            </a:r>
            <a:r>
              <a:rPr lang="en-US" sz="1400" b="0" baseline="-25000" dirty="0"/>
              <a:t>rms</a:t>
            </a:r>
            <a:r>
              <a:rPr lang="en-US" sz="1400" b="0" dirty="0"/>
              <a:t>, time-history signals, PSD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Some 2D grids also provided by the workshop (Cadence, </a:t>
            </a:r>
            <a:r>
              <a:rPr lang="en-US" sz="1400" b="0" dirty="0" err="1"/>
              <a:t>HeldenMesh</a:t>
            </a:r>
            <a:r>
              <a:rPr lang="en-US" sz="1400" b="0" dirty="0"/>
              <a:t>, ONERA)</a:t>
            </a:r>
            <a:endParaRPr lang="fr-FR" sz="1200" b="0" dirty="0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xmlns="" id="{9B385939-925D-44CB-829F-CD9D43BDE1D6}"/>
              </a:ext>
            </a:extLst>
          </p:cNvPr>
          <p:cNvCxnSpPr>
            <a:cxnSpLocks/>
          </p:cNvCxnSpPr>
          <p:nvPr/>
        </p:nvCxnSpPr>
        <p:spPr bwMode="auto">
          <a:xfrm>
            <a:off x="1317337" y="3987987"/>
            <a:ext cx="21126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509A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xmlns="" id="{89650AA7-CB77-47F6-A521-2B10B1DBD88C}"/>
              </a:ext>
            </a:extLst>
          </p:cNvPr>
          <p:cNvCxnSpPr>
            <a:cxnSpLocks/>
          </p:cNvCxnSpPr>
          <p:nvPr/>
        </p:nvCxnSpPr>
        <p:spPr bwMode="auto">
          <a:xfrm>
            <a:off x="2530632" y="3992840"/>
            <a:ext cx="20093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509A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xmlns="" id="{24564A32-8F86-4BC9-9FD0-4B79FEB826DD}"/>
              </a:ext>
            </a:extLst>
          </p:cNvPr>
          <p:cNvCxnSpPr>
            <a:cxnSpLocks/>
          </p:cNvCxnSpPr>
          <p:nvPr/>
        </p:nvCxnSpPr>
        <p:spPr bwMode="auto">
          <a:xfrm>
            <a:off x="4079426" y="3987987"/>
            <a:ext cx="20093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509A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xmlns="" id="{86B039FF-DEED-4B4E-A8E9-8BBD8BAEEDEB}"/>
              </a:ext>
            </a:extLst>
          </p:cNvPr>
          <p:cNvCxnSpPr>
            <a:cxnSpLocks/>
          </p:cNvCxnSpPr>
          <p:nvPr/>
        </p:nvCxnSpPr>
        <p:spPr bwMode="auto">
          <a:xfrm>
            <a:off x="5868144" y="3987987"/>
            <a:ext cx="20093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509A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xmlns="" id="{7289A16E-7CE4-4A0B-98A2-908B199887C9}"/>
              </a:ext>
            </a:extLst>
          </p:cNvPr>
          <p:cNvCxnSpPr>
            <a:cxnSpLocks/>
          </p:cNvCxnSpPr>
          <p:nvPr/>
        </p:nvCxnSpPr>
        <p:spPr bwMode="auto">
          <a:xfrm>
            <a:off x="7308304" y="3987987"/>
            <a:ext cx="20093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509A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C545BED8-D370-42D3-869F-B390A28D6C8A}"/>
              </a:ext>
            </a:extLst>
          </p:cNvPr>
          <p:cNvSpPr/>
          <p:nvPr/>
        </p:nvSpPr>
        <p:spPr>
          <a:xfrm>
            <a:off x="2387385" y="2101063"/>
            <a:ext cx="6501519" cy="110799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dirty="0"/>
              <a:t>Experiments indicated buffet onset around 3.5°</a:t>
            </a:r>
            <a:endParaRPr lang="en-US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What solver can reproduce it? On which grid?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What can be delivered using different approaches?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Best practices for turbulent models, numerical schemes, limiters?</a:t>
            </a:r>
            <a:endParaRPr lang="fr-FR" sz="1400" b="0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xmlns="" id="{5A69BFBA-C6FD-40FA-B8B0-369B7D6B2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19" y="1923678"/>
            <a:ext cx="2071688" cy="13716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6FEF31EA-DB11-4EAA-8B29-7E275EB03E18}"/>
              </a:ext>
            </a:extLst>
          </p:cNvPr>
          <p:cNvSpPr/>
          <p:nvPr/>
        </p:nvSpPr>
        <p:spPr>
          <a:xfrm>
            <a:off x="352256" y="3410122"/>
            <a:ext cx="2044099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b="0" dirty="0"/>
              <a:t>In this presentation:</a:t>
            </a:r>
            <a:endParaRPr lang="fr-FR" sz="1400" b="0" dirty="0"/>
          </a:p>
        </p:txBody>
      </p:sp>
    </p:spTree>
    <p:extLst>
      <p:ext uri="{BB962C8B-B14F-4D97-AF65-F5344CB8AC3E}">
        <p14:creationId xmlns:p14="http://schemas.microsoft.com/office/powerpoint/2010/main" val="417482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3" grpId="0" animBg="1"/>
      <p:bldP spid="35" grpId="0" animBg="1"/>
      <p:bldP spid="37" grpId="0" animBg="1"/>
      <p:bldP spid="39" grpId="0" animBg="1"/>
      <p:bldP spid="40" grpId="0" animBg="1"/>
      <p:bldP spid="41" grpId="0" animBg="1"/>
      <p:bldP spid="42" grpId="0"/>
      <p:bldP spid="21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51519" y="0"/>
            <a:ext cx="8574983" cy="483518"/>
          </a:xfrm>
        </p:spPr>
        <p:txBody>
          <a:bodyPr/>
          <a:lstStyle/>
          <a:p>
            <a:r>
              <a:rPr lang="en-GB" dirty="0"/>
              <a:t>Introduction: available grids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EDFC2C-F9B9-0445-A511-DA4552EF3EEB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C2C8A16F-07EC-4BA5-A8DD-D2C03E530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3" y="2288902"/>
            <a:ext cx="3295033" cy="188354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xmlns="" id="{9769A494-A09D-4783-AEB0-0E6647761F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858" y="628290"/>
            <a:ext cx="5406630" cy="360442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101DB616-6EF3-4593-8F82-D50C010C7020}"/>
              </a:ext>
            </a:extLst>
          </p:cNvPr>
          <p:cNvSpPr/>
          <p:nvPr/>
        </p:nvSpPr>
        <p:spPr>
          <a:xfrm>
            <a:off x="3557857" y="4233466"/>
            <a:ext cx="540662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b="0" dirty="0"/>
              <a:t>Visualisation of grid level 1 for all 6 tested grids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641F3403-A32C-48B0-B9D1-467F5169DB69}"/>
              </a:ext>
            </a:extLst>
          </p:cNvPr>
          <p:cNvSpPr/>
          <p:nvPr/>
        </p:nvSpPr>
        <p:spPr>
          <a:xfrm>
            <a:off x="96012" y="4172570"/>
            <a:ext cx="329503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b="0" dirty="0"/>
              <a:t>Number of cells vs grid level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9290DC1C-58E8-48A6-A1AC-051E15DE5C58}"/>
              </a:ext>
            </a:extLst>
          </p:cNvPr>
          <p:cNvSpPr/>
          <p:nvPr/>
        </p:nvSpPr>
        <p:spPr>
          <a:xfrm>
            <a:off x="370366" y="627534"/>
            <a:ext cx="2977497" cy="160043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/>
              <a:t>6 families, 30 grids in total: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Cadence (</a:t>
            </a:r>
            <a:r>
              <a:rPr lang="en-US" sz="1400" b="0" dirty="0" err="1"/>
              <a:t>unst</a:t>
            </a:r>
            <a:r>
              <a:rPr lang="en-US" sz="1400" b="0" dirty="0"/>
              <a:t>.): 6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 err="1"/>
              <a:t>Helden</a:t>
            </a:r>
            <a:r>
              <a:rPr lang="en-US" sz="1400" b="0" dirty="0"/>
              <a:t> Mesh (</a:t>
            </a:r>
            <a:r>
              <a:rPr lang="en-US" sz="1400" b="0" dirty="0" err="1"/>
              <a:t>unst</a:t>
            </a:r>
            <a:r>
              <a:rPr lang="en-US" sz="1400" b="0" dirty="0"/>
              <a:t>.): 6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ONERA O-grid (</a:t>
            </a:r>
            <a:r>
              <a:rPr lang="en-US" sz="1400" b="0" dirty="0" err="1"/>
              <a:t>unst</a:t>
            </a:r>
            <a:r>
              <a:rPr lang="en-US" sz="1400" b="0" dirty="0"/>
              <a:t>.) : 2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Cadence (</a:t>
            </a:r>
            <a:r>
              <a:rPr lang="en-US" sz="1400" b="0" dirty="0" err="1"/>
              <a:t>st</a:t>
            </a:r>
            <a:r>
              <a:rPr lang="en-US" sz="1400" b="0" dirty="0"/>
              <a:t>): 6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ONERA O-grid (</a:t>
            </a:r>
            <a:r>
              <a:rPr lang="en-US" sz="1400" b="0" dirty="0" err="1"/>
              <a:t>st</a:t>
            </a:r>
            <a:r>
              <a:rPr lang="en-US" sz="1400" b="0" dirty="0"/>
              <a:t>): 2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ONERA </a:t>
            </a:r>
            <a:r>
              <a:rPr lang="en-US" sz="1400" b="0" dirty="0" err="1"/>
              <a:t>Rizzi</a:t>
            </a:r>
            <a:r>
              <a:rPr lang="en-US" sz="1400" b="0" dirty="0"/>
              <a:t> (</a:t>
            </a:r>
            <a:r>
              <a:rPr lang="en-US" sz="1400" b="0" dirty="0" err="1"/>
              <a:t>st</a:t>
            </a:r>
            <a:r>
              <a:rPr lang="en-US" sz="1400" b="0" dirty="0"/>
              <a:t>): 9 levels</a:t>
            </a:r>
            <a:endParaRPr lang="fr-FR" sz="1200" b="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xmlns="" id="{0D0519F1-D2DC-45D3-A5AF-E601B230B526}"/>
              </a:ext>
            </a:extLst>
          </p:cNvPr>
          <p:cNvSpPr/>
          <p:nvPr/>
        </p:nvSpPr>
        <p:spPr bwMode="auto">
          <a:xfrm>
            <a:off x="370367" y="3579862"/>
            <a:ext cx="673241" cy="288032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xmlns="" id="{CE629083-8663-4A29-8F7B-742800EAC2FD}"/>
              </a:ext>
            </a:extLst>
          </p:cNvPr>
          <p:cNvSpPr/>
          <p:nvPr/>
        </p:nvSpPr>
        <p:spPr bwMode="auto">
          <a:xfrm>
            <a:off x="683568" y="3193277"/>
            <a:ext cx="1008112" cy="288032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xmlns="" id="{C8BD7164-FF36-4FCC-8EA4-BF15E22327BC}"/>
              </a:ext>
            </a:extLst>
          </p:cNvPr>
          <p:cNvSpPr/>
          <p:nvPr/>
        </p:nvSpPr>
        <p:spPr bwMode="auto">
          <a:xfrm>
            <a:off x="1331640" y="2715766"/>
            <a:ext cx="2016224" cy="370892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3E95F3A-CE10-449C-B3E4-B0C343C87C72}"/>
              </a:ext>
            </a:extLst>
          </p:cNvPr>
          <p:cNvSpPr/>
          <p:nvPr/>
        </p:nvSpPr>
        <p:spPr>
          <a:xfrm>
            <a:off x="1043608" y="3636552"/>
            <a:ext cx="136579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Coarse: ~20,000 cells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4B7167-0BA3-4AC8-BC0B-F60D7B3FFFB1}"/>
              </a:ext>
            </a:extLst>
          </p:cNvPr>
          <p:cNvSpPr/>
          <p:nvPr/>
        </p:nvSpPr>
        <p:spPr>
          <a:xfrm>
            <a:off x="1672344" y="3241901"/>
            <a:ext cx="148647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Medium: ~ 200,000 cells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16403D40-74BE-443A-899C-03C55F08297C}"/>
              </a:ext>
            </a:extLst>
          </p:cNvPr>
          <p:cNvSpPr/>
          <p:nvPr/>
        </p:nvSpPr>
        <p:spPr>
          <a:xfrm>
            <a:off x="1964636" y="2522729"/>
            <a:ext cx="14552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Fine: &gt; 1,000,000, cells</a:t>
            </a:r>
          </a:p>
        </p:txBody>
      </p:sp>
    </p:spTree>
    <p:extLst>
      <p:ext uri="{BB962C8B-B14F-4D97-AF65-F5344CB8AC3E}">
        <p14:creationId xmlns:p14="http://schemas.microsoft.com/office/powerpoint/2010/main" val="306156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9" grpId="0" animBg="1"/>
      <p:bldP spid="11" grpId="0" animBg="1"/>
      <p:bldP spid="12" grpId="0" animBg="1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51519" y="0"/>
            <a:ext cx="8574983" cy="483518"/>
          </a:xfrm>
        </p:spPr>
        <p:txBody>
          <a:bodyPr/>
          <a:lstStyle/>
          <a:p>
            <a:r>
              <a:rPr lang="en-GB" dirty="0"/>
              <a:t>Introduction: simulations completed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EDFC2C-F9B9-0445-A511-DA4552EF3EEB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446ADDE-4300-41D5-B9C5-8E50570C9417}"/>
              </a:ext>
            </a:extLst>
          </p:cNvPr>
          <p:cNvSpPr/>
          <p:nvPr/>
        </p:nvSpPr>
        <p:spPr>
          <a:xfrm>
            <a:off x="317497" y="1741914"/>
            <a:ext cx="8314403" cy="126188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/>
              <a:t>First approach: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400" b="0" dirty="0"/>
              <a:t>test ALL the grids in RANS/URANS using the same “standard” parameters, for all </a:t>
            </a:r>
            <a:r>
              <a:rPr lang="en-US" sz="1400" b="0" dirty="0" err="1"/>
              <a:t>AoA</a:t>
            </a:r>
            <a:endParaRPr lang="en-US" sz="1400" b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0" dirty="0"/>
              <a:t>ONERA best practices have second order in both conservative and turbulent fluxes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0" dirty="0"/>
              <a:t>This </a:t>
            </a:r>
            <a:r>
              <a:rPr lang="en-US" sz="1200" b="0" dirty="0" smtClean="0"/>
              <a:t>does </a:t>
            </a:r>
            <a:r>
              <a:rPr lang="en-US" sz="1200" b="0" dirty="0"/>
              <a:t>not </a:t>
            </a:r>
            <a:r>
              <a:rPr lang="en-US" sz="1200" b="0" dirty="0" smtClean="0"/>
              <a:t>yield </a:t>
            </a:r>
            <a:r>
              <a:rPr lang="en-US" sz="1200" b="0" dirty="0"/>
              <a:t>buffet! Not even one grid, one </a:t>
            </a:r>
            <a:r>
              <a:rPr lang="en-US" sz="1200" b="0" dirty="0" err="1"/>
              <a:t>AoA</a:t>
            </a:r>
            <a:r>
              <a:rPr lang="en-US" sz="1200" b="0" dirty="0"/>
              <a:t>, for all the turbulence models tested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0" dirty="0"/>
              <a:t>Decided to use first order turbulence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0" dirty="0"/>
              <a:t>This behavior have already been observed with </a:t>
            </a:r>
            <a:r>
              <a:rPr lang="en-US" sz="1200" b="0" dirty="0" err="1"/>
              <a:t>elsA</a:t>
            </a:r>
            <a:r>
              <a:rPr lang="en-US" sz="1200" b="0" dirty="0"/>
              <a:t> in the past for 2D and 3D buffet simulations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0446ADDE-4300-41D5-B9C5-8E50570C9417}"/>
              </a:ext>
            </a:extLst>
          </p:cNvPr>
          <p:cNvSpPr/>
          <p:nvPr/>
        </p:nvSpPr>
        <p:spPr>
          <a:xfrm>
            <a:off x="317496" y="3068836"/>
            <a:ext cx="8314403" cy="123110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/>
              <a:t>Final approach: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dirty="0" err="1"/>
              <a:t>elsA</a:t>
            </a:r>
            <a:r>
              <a:rPr lang="en-US" sz="1200" b="0" dirty="0"/>
              <a:t> solver, RANS on most grids, SA, Roe scheme, all </a:t>
            </a:r>
            <a:r>
              <a:rPr lang="en-US" sz="1200" b="0" dirty="0" err="1"/>
              <a:t>AoA</a:t>
            </a:r>
            <a:endParaRPr lang="en-US" sz="1200" b="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u="sng" dirty="0"/>
              <a:t>First order</a:t>
            </a:r>
            <a:r>
              <a:rPr lang="en-US" sz="1200" b="0" dirty="0"/>
              <a:t> on turbulent fluxes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dirty="0"/>
              <a:t>Run of roughly 300 steady and 300 unsteady cases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dirty="0"/>
              <a:t>Additional 100 parametric simulations changing some parameters, only on AoA=3.5°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dirty="0"/>
              <a:t>Conclusions analyzing and comparing the “only” 15 cases that show buffet at 3.5°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74DD521E-6104-473B-ABE4-62D6BF8388E8}"/>
              </a:ext>
            </a:extLst>
          </p:cNvPr>
          <p:cNvSpPr/>
          <p:nvPr/>
        </p:nvSpPr>
        <p:spPr>
          <a:xfrm>
            <a:off x="317498" y="626954"/>
            <a:ext cx="8314403" cy="10464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i="1" dirty="0" err="1"/>
              <a:t>elsA</a:t>
            </a:r>
            <a:r>
              <a:rPr lang="en-US" sz="1400" dirty="0"/>
              <a:t> code: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0" dirty="0" smtClean="0"/>
              <a:t>Co-developed by ONERA and Safran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0" dirty="0" smtClean="0"/>
              <a:t>Finite </a:t>
            </a:r>
            <a:r>
              <a:rPr lang="en-US" sz="1200" b="0" dirty="0"/>
              <a:t>volume, centered cells, RANS/URANS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0" dirty="0"/>
              <a:t>Structured or unstructured, depending on the grid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0" dirty="0"/>
              <a:t>Intensively used for buffet simulations since many years, both in 2D and 3D</a:t>
            </a:r>
          </a:p>
        </p:txBody>
      </p:sp>
    </p:spTree>
    <p:extLst>
      <p:ext uri="{BB962C8B-B14F-4D97-AF65-F5344CB8AC3E}">
        <p14:creationId xmlns:p14="http://schemas.microsoft.com/office/powerpoint/2010/main" val="112129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51519" y="0"/>
            <a:ext cx="8574983" cy="483518"/>
          </a:xfrm>
        </p:spPr>
        <p:txBody>
          <a:bodyPr/>
          <a:lstStyle/>
          <a:p>
            <a:r>
              <a:rPr lang="en-GB" dirty="0"/>
              <a:t>RANS results using elsA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EDFC2C-F9B9-0445-A511-DA4552EF3EEB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915566"/>
            <a:ext cx="2736000" cy="15637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0446ADDE-4300-41D5-B9C5-8E50570C9417}"/>
              </a:ext>
            </a:extLst>
          </p:cNvPr>
          <p:cNvSpPr/>
          <p:nvPr/>
        </p:nvSpPr>
        <p:spPr>
          <a:xfrm>
            <a:off x="5868752" y="3055906"/>
            <a:ext cx="3168352" cy="118000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144000" indent="-144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Grid convergence: only ONERA-</a:t>
            </a:r>
            <a:r>
              <a:rPr lang="en-US" sz="1200" b="0" dirty="0" err="1"/>
              <a:t>Rizzi</a:t>
            </a:r>
            <a:r>
              <a:rPr lang="en-US" sz="1200" b="0" dirty="0"/>
              <a:t> grid shows some sort of grid convergence</a:t>
            </a:r>
          </a:p>
          <a:p>
            <a:pPr marL="144000" indent="-144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Reasonable comparison with exp. data</a:t>
            </a:r>
          </a:p>
          <a:p>
            <a:pPr marL="144000" indent="-144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No grid has correct shock location with this combination of model/limiter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101DB616-6EF3-4593-8F82-D50C010C7020}"/>
              </a:ext>
            </a:extLst>
          </p:cNvPr>
          <p:cNvSpPr/>
          <p:nvPr/>
        </p:nvSpPr>
        <p:spPr>
          <a:xfrm>
            <a:off x="251519" y="2479266"/>
            <a:ext cx="273539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b="0" dirty="0"/>
              <a:t>Some cases still not converging at all</a:t>
            </a: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864625"/>
            <a:ext cx="2736000" cy="1564916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528" y="915566"/>
            <a:ext cx="2736000" cy="1563700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0136" y="2861060"/>
            <a:ext cx="2736000" cy="156339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B9819A2A-5B8D-4072-B56D-E96FA1F7145A}"/>
              </a:ext>
            </a:extLst>
          </p:cNvPr>
          <p:cNvSpPr/>
          <p:nvPr/>
        </p:nvSpPr>
        <p:spPr>
          <a:xfrm>
            <a:off x="3058920" y="2479266"/>
            <a:ext cx="273539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b="0" dirty="0" err="1"/>
              <a:t>Polars</a:t>
            </a:r>
            <a:r>
              <a:rPr lang="en-GB" sz="900" b="0" dirty="0"/>
              <a:t> for cases that converge at low AoA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C4E06B09-C456-493E-9050-26FF03DB3972}"/>
              </a:ext>
            </a:extLst>
          </p:cNvPr>
          <p:cNvSpPr/>
          <p:nvPr/>
        </p:nvSpPr>
        <p:spPr>
          <a:xfrm>
            <a:off x="3058920" y="4429150"/>
            <a:ext cx="273539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b="0" dirty="0"/>
              <a:t>Cp at </a:t>
            </a:r>
            <a:r>
              <a:rPr lang="en-GB" sz="900" b="0" dirty="0" err="1"/>
              <a:t>AoA</a:t>
            </a:r>
            <a:r>
              <a:rPr lang="en-GB" sz="900" b="0" dirty="0"/>
              <a:t> = 2.50</a:t>
            </a:r>
            <a:r>
              <a:rPr lang="en-US" sz="900" b="0" dirty="0"/>
              <a:t>°for all grids</a:t>
            </a:r>
            <a:endParaRPr lang="en-GB" sz="900" b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5DA820C2-65BC-4A23-8C93-ADC95B7F1461}"/>
              </a:ext>
            </a:extLst>
          </p:cNvPr>
          <p:cNvSpPr/>
          <p:nvPr/>
        </p:nvSpPr>
        <p:spPr>
          <a:xfrm>
            <a:off x="249697" y="4429150"/>
            <a:ext cx="273539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b="0" dirty="0"/>
              <a:t>Grid convergence </a:t>
            </a:r>
            <a:r>
              <a:rPr lang="en-GB" sz="900" b="0" dirty="0" smtClean="0"/>
              <a:t>at 1.36 </a:t>
            </a:r>
            <a:r>
              <a:rPr lang="en-GB" sz="900" b="0" dirty="0" err="1" smtClean="0"/>
              <a:t>deg</a:t>
            </a:r>
            <a:r>
              <a:rPr lang="en-GB" sz="900" b="0" dirty="0" smtClean="0"/>
              <a:t> only </a:t>
            </a:r>
            <a:r>
              <a:rPr lang="en-GB" sz="900" b="0" dirty="0"/>
              <a:t>for “</a:t>
            </a:r>
            <a:r>
              <a:rPr lang="en-GB" sz="900" b="0" dirty="0" err="1"/>
              <a:t>Onerizzi</a:t>
            </a:r>
            <a:r>
              <a:rPr lang="en-GB" sz="900" b="0" dirty="0"/>
              <a:t>”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CE748247-1063-44BF-B1C9-B56AA5A728DE}"/>
              </a:ext>
            </a:extLst>
          </p:cNvPr>
          <p:cNvSpPr/>
          <p:nvPr/>
        </p:nvSpPr>
        <p:spPr>
          <a:xfrm>
            <a:off x="342980" y="555526"/>
            <a:ext cx="8483522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b="0" dirty="0"/>
              <a:t>Result example of </a:t>
            </a:r>
            <a:r>
              <a:rPr lang="en-US" sz="1400" dirty="0"/>
              <a:t>steady-state</a:t>
            </a:r>
            <a:r>
              <a:rPr lang="en-US" sz="1400" b="0" dirty="0"/>
              <a:t> simulation, using </a:t>
            </a:r>
            <a:r>
              <a:rPr lang="en-US" sz="1400" dirty="0"/>
              <a:t>all grids</a:t>
            </a:r>
            <a:r>
              <a:rPr lang="en-US" sz="1400" b="0" dirty="0"/>
              <a:t>, </a:t>
            </a:r>
            <a:r>
              <a:rPr lang="en-US" sz="1400" b="0" dirty="0" err="1"/>
              <a:t>elsA</a:t>
            </a:r>
            <a:r>
              <a:rPr lang="en-US" sz="1400" b="0" dirty="0"/>
              <a:t> solver using standard best practices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1AA6F85E-FB43-43BB-A34D-117FFD6D06AB}"/>
              </a:ext>
            </a:extLst>
          </p:cNvPr>
          <p:cNvSpPr/>
          <p:nvPr/>
        </p:nvSpPr>
        <p:spPr>
          <a:xfrm>
            <a:off x="5975648" y="1108248"/>
            <a:ext cx="3168352" cy="120032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144000" indent="-144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Cl vs alpha. Error bars showing </a:t>
            </a:r>
            <a:r>
              <a:rPr lang="en-US" sz="1200" b="0" dirty="0" err="1" smtClean="0"/>
              <a:t>Cl</a:t>
            </a:r>
            <a:r>
              <a:rPr lang="en-US" sz="1200" b="0" baseline="-25000" dirty="0" err="1" smtClean="0"/>
              <a:t>std</a:t>
            </a:r>
            <a:endParaRPr lang="en-US" sz="1200" b="0" baseline="-25000" dirty="0"/>
          </a:p>
          <a:p>
            <a:pPr marL="144000" indent="-144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 smtClean="0"/>
              <a:t>Low-dissipation setup </a:t>
            </a:r>
            <a:r>
              <a:rPr lang="en-US" sz="1200" b="0" dirty="0"/>
              <a:t>not converging</a:t>
            </a:r>
          </a:p>
          <a:p>
            <a:pPr marL="144000" indent="-144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Down-selection of converging grids</a:t>
            </a:r>
          </a:p>
          <a:p>
            <a:pPr marL="144000" indent="-144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Still a lot of grid dependency</a:t>
            </a:r>
          </a:p>
          <a:p>
            <a:pPr marL="144000" indent="-144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Some grids are unsteady already at 3.0°</a:t>
            </a:r>
          </a:p>
        </p:txBody>
      </p:sp>
    </p:spTree>
    <p:extLst>
      <p:ext uri="{BB962C8B-B14F-4D97-AF65-F5344CB8AC3E}">
        <p14:creationId xmlns:p14="http://schemas.microsoft.com/office/powerpoint/2010/main" val="301526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7" grpId="0"/>
      <p:bldP spid="28" grpId="0"/>
      <p:bldP spid="29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51519" y="0"/>
            <a:ext cx="8574983" cy="483518"/>
          </a:xfrm>
        </p:spPr>
        <p:txBody>
          <a:bodyPr/>
          <a:lstStyle/>
          <a:p>
            <a:r>
              <a:rPr lang="en-GB" dirty="0"/>
              <a:t>RANS results using elsA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EDFC2C-F9B9-0445-A511-DA4552EF3EEB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0446ADDE-4300-41D5-B9C5-8E50570C9417}"/>
              </a:ext>
            </a:extLst>
          </p:cNvPr>
          <p:cNvSpPr/>
          <p:nvPr/>
        </p:nvSpPr>
        <p:spPr>
          <a:xfrm>
            <a:off x="5904492" y="1188962"/>
            <a:ext cx="3132004" cy="188173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/>
              <a:t>Conclusions: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As expected, turbulence-model dependency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k-w SST closer to experiments than SA, but shock still too downstream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Different results when changing grid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Model dependency more important than grid dependency</a:t>
            </a: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71" y="973930"/>
            <a:ext cx="5668593" cy="323919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5DA820C2-65BC-4A23-8C93-ADC95B7F1461}"/>
              </a:ext>
            </a:extLst>
          </p:cNvPr>
          <p:cNvSpPr/>
          <p:nvPr/>
        </p:nvSpPr>
        <p:spPr>
          <a:xfrm>
            <a:off x="179512" y="4213126"/>
            <a:ext cx="566871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b="0" dirty="0"/>
              <a:t>Turbulence model and grid dependency for ONERA O-grid (unstructured)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897A1735-CA16-4C43-AE0E-83BCCEEA1AC6}"/>
              </a:ext>
            </a:extLst>
          </p:cNvPr>
          <p:cNvSpPr/>
          <p:nvPr/>
        </p:nvSpPr>
        <p:spPr>
          <a:xfrm>
            <a:off x="342980" y="555526"/>
            <a:ext cx="8483522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b="0" dirty="0"/>
              <a:t>Focus on ONERA O-grids (2 levels): effect of turbulence model for </a:t>
            </a:r>
            <a:r>
              <a:rPr lang="en-US" sz="1400" b="0" dirty="0" err="1"/>
              <a:t>AoA</a:t>
            </a:r>
            <a:r>
              <a:rPr lang="en-US" sz="1400" b="0" dirty="0"/>
              <a:t> = 3.00°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F6527E1-0569-42A3-9382-76A05193E69E}"/>
              </a:ext>
            </a:extLst>
          </p:cNvPr>
          <p:cNvSpPr/>
          <p:nvPr/>
        </p:nvSpPr>
        <p:spPr>
          <a:xfrm>
            <a:off x="6084167" y="3368984"/>
            <a:ext cx="2904451" cy="844142"/>
          </a:xfrm>
          <a:prstGeom prst="rect">
            <a:avLst/>
          </a:prstGeom>
          <a:ln>
            <a:solidFill>
              <a:srgbClr val="00509A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400" b="0" dirty="0"/>
              <a:t>RANS reliable only for small angles of attack:</a:t>
            </a:r>
          </a:p>
          <a:p>
            <a:pPr algn="ctr">
              <a:lnSpc>
                <a:spcPct val="120000"/>
              </a:lnSpc>
            </a:pPr>
            <a:r>
              <a:rPr lang="en-US" sz="1400" b="0" u="sng" dirty="0"/>
              <a:t>need for time-accurate simulations</a:t>
            </a:r>
          </a:p>
        </p:txBody>
      </p:sp>
    </p:spTree>
    <p:extLst>
      <p:ext uri="{BB962C8B-B14F-4D97-AF65-F5344CB8AC3E}">
        <p14:creationId xmlns:p14="http://schemas.microsoft.com/office/powerpoint/2010/main" val="399262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51519" y="0"/>
            <a:ext cx="8574983" cy="483518"/>
          </a:xfrm>
        </p:spPr>
        <p:txBody>
          <a:bodyPr/>
          <a:lstStyle/>
          <a:p>
            <a:r>
              <a:rPr lang="en-GB" dirty="0"/>
              <a:t>URANS results using elsA: time-accurate simulations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EDFC2C-F9B9-0445-A511-DA4552EF3EEB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0446ADDE-4300-41D5-B9C5-8E50570C9417}"/>
              </a:ext>
            </a:extLst>
          </p:cNvPr>
          <p:cNvSpPr/>
          <p:nvPr/>
        </p:nvSpPr>
        <p:spPr>
          <a:xfrm>
            <a:off x="5075380" y="627534"/>
            <a:ext cx="3816424" cy="95154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b="0" dirty="0"/>
              <a:t>Time-history of lift coefficient quite similar in transient, average Lift and buffet frequency, different amplitudes</a:t>
            </a: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635646"/>
            <a:ext cx="4220326" cy="2412000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388" y="1636411"/>
            <a:ext cx="4220999" cy="241046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B9819A2A-5B8D-4072-B56D-E96FA1F7145A}"/>
              </a:ext>
            </a:extLst>
          </p:cNvPr>
          <p:cNvSpPr/>
          <p:nvPr/>
        </p:nvSpPr>
        <p:spPr>
          <a:xfrm>
            <a:off x="4663971" y="4047646"/>
            <a:ext cx="422099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b="0" dirty="0"/>
              <a:t>Typical CL-iterations for all unsteady cases when </a:t>
            </a:r>
            <a:r>
              <a:rPr lang="en-GB" sz="900" b="0" dirty="0" err="1"/>
              <a:t>AoA</a:t>
            </a:r>
            <a:r>
              <a:rPr lang="en-GB" sz="900" b="0" dirty="0"/>
              <a:t> = 3. 50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5DA820C2-65BC-4A23-8C93-ADC95B7F1461}"/>
              </a:ext>
            </a:extLst>
          </p:cNvPr>
          <p:cNvSpPr/>
          <p:nvPr/>
        </p:nvSpPr>
        <p:spPr>
          <a:xfrm>
            <a:off x="254937" y="4047646"/>
            <a:ext cx="421690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b="0" dirty="0" err="1"/>
              <a:t>Polars</a:t>
            </a:r>
            <a:r>
              <a:rPr lang="en-GB" sz="900" b="0" dirty="0"/>
              <a:t> of average Cl, error bars with std of lift (unsteady cases)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1C2BE29C-D585-4F94-8CA4-D3B5FC7D1FA0}"/>
              </a:ext>
            </a:extLst>
          </p:cNvPr>
          <p:cNvSpPr/>
          <p:nvPr/>
        </p:nvSpPr>
        <p:spPr>
          <a:xfrm>
            <a:off x="323527" y="808366"/>
            <a:ext cx="4248473" cy="68326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b="0" dirty="0"/>
              <a:t>Lift </a:t>
            </a:r>
            <a:r>
              <a:rPr lang="en-US" sz="1600" b="0" dirty="0" err="1"/>
              <a:t>polars</a:t>
            </a:r>
            <a:r>
              <a:rPr lang="en-US" sz="1600" b="0" dirty="0"/>
              <a:t> still not </a:t>
            </a:r>
            <a:r>
              <a:rPr lang="en-US" sz="1600" b="0" dirty="0" smtClean="0"/>
              <a:t>showing grid convergence</a:t>
            </a:r>
          </a:p>
          <a:p>
            <a:pPr algn="ctr">
              <a:lnSpc>
                <a:spcPct val="120000"/>
              </a:lnSpc>
            </a:pPr>
            <a:r>
              <a:rPr lang="en-US" sz="1600" b="0" dirty="0" smtClean="0"/>
              <a:t>Some </a:t>
            </a:r>
            <a:r>
              <a:rPr lang="en-US" sz="1600" b="0" dirty="0"/>
              <a:t>agreement about buffet onset </a:t>
            </a:r>
          </a:p>
        </p:txBody>
      </p:sp>
    </p:spTree>
    <p:extLst>
      <p:ext uri="{BB962C8B-B14F-4D97-AF65-F5344CB8AC3E}">
        <p14:creationId xmlns:p14="http://schemas.microsoft.com/office/powerpoint/2010/main" val="414684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51519" y="0"/>
            <a:ext cx="8574983" cy="483518"/>
          </a:xfrm>
        </p:spPr>
        <p:txBody>
          <a:bodyPr/>
          <a:lstStyle/>
          <a:p>
            <a:r>
              <a:rPr lang="en-GB" dirty="0"/>
              <a:t>URANS results using elsA: average Cp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EDFC2C-F9B9-0445-A511-DA4552EF3EEB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0446ADDE-4300-41D5-B9C5-8E50570C9417}"/>
              </a:ext>
            </a:extLst>
          </p:cNvPr>
          <p:cNvSpPr/>
          <p:nvPr/>
        </p:nvSpPr>
        <p:spPr>
          <a:xfrm>
            <a:off x="330696" y="3723878"/>
            <a:ext cx="8273752" cy="84414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0" dirty="0"/>
              <a:t>Shock location always downstream </a:t>
            </a:r>
            <a:r>
              <a:rPr lang="en-US" sz="1400" b="0" dirty="0" err="1"/>
              <a:t>w.r.t.</a:t>
            </a:r>
            <a:r>
              <a:rPr lang="en-US" sz="1400" b="0" dirty="0"/>
              <a:t> experiments among the 14 grids showing buffet at 3.50°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0" dirty="0"/>
              <a:t>All other grids yields steady solutions (no shock movements)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0" dirty="0"/>
              <a:t>Favorable comparison elsewhere: upstream shock, downstream separation, pressure side, LE, TE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xmlns="" id="{6713703F-4C63-4D17-933F-95E3800DA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87574"/>
            <a:ext cx="4220330" cy="241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F9990130-4233-4155-8EBE-2408A8E4097A}"/>
              </a:ext>
            </a:extLst>
          </p:cNvPr>
          <p:cNvSpPr/>
          <p:nvPr/>
        </p:nvSpPr>
        <p:spPr>
          <a:xfrm>
            <a:off x="4672148" y="3400200"/>
            <a:ext cx="421925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b="0" dirty="0"/>
              <a:t>Animation of Cp distribution vs average on ONERA O-grid, </a:t>
            </a:r>
            <a:r>
              <a:rPr lang="en-US" sz="900" b="0" dirty="0" err="1"/>
              <a:t>AoA</a:t>
            </a:r>
            <a:r>
              <a:rPr lang="en-US" sz="900" b="0" dirty="0"/>
              <a:t> = 3.50°</a:t>
            </a:r>
            <a:endParaRPr lang="en-GB" sz="900" b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1FD25617-5456-41B6-BA82-93F84AB15363}"/>
              </a:ext>
            </a:extLst>
          </p:cNvPr>
          <p:cNvSpPr/>
          <p:nvPr/>
        </p:nvSpPr>
        <p:spPr>
          <a:xfrm>
            <a:off x="251519" y="3398727"/>
            <a:ext cx="421925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b="0" dirty="0"/>
              <a:t>Average Cp distribution for all unsteady cases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xmlns="" id="{07DD5BF3-7442-41AF-B55B-365E85B2B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222" y="987574"/>
            <a:ext cx="4219258" cy="2412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B9A404D8-9618-4CCB-BD16-E4A10240A0D9}"/>
              </a:ext>
            </a:extLst>
          </p:cNvPr>
          <p:cNvSpPr/>
          <p:nvPr/>
        </p:nvSpPr>
        <p:spPr>
          <a:xfrm>
            <a:off x="330239" y="565524"/>
            <a:ext cx="8483522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b="0" dirty="0"/>
              <a:t>Focus on all grids, using best practices for time-accurate simulations. </a:t>
            </a:r>
            <a:r>
              <a:rPr lang="en-US" sz="1400" b="0" dirty="0" err="1"/>
              <a:t>AoA</a:t>
            </a:r>
            <a:r>
              <a:rPr lang="en-US" sz="1400" b="0" dirty="0"/>
              <a:t> = 3.50°</a:t>
            </a:r>
          </a:p>
        </p:txBody>
      </p:sp>
    </p:spTree>
    <p:extLst>
      <p:ext uri="{BB962C8B-B14F-4D97-AF65-F5344CB8AC3E}">
        <p14:creationId xmlns:p14="http://schemas.microsoft.com/office/powerpoint/2010/main" val="81386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51519" y="0"/>
            <a:ext cx="8574983" cy="483518"/>
          </a:xfrm>
        </p:spPr>
        <p:txBody>
          <a:bodyPr/>
          <a:lstStyle/>
          <a:p>
            <a:r>
              <a:rPr lang="en-GB" dirty="0"/>
              <a:t>URANS results using elsA: fluctuations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EDFC2C-F9B9-0445-A511-DA4552EF3EEB}" type="slidenum">
              <a:rPr lang="fr-FR" smtClean="0"/>
              <a:pPr>
                <a:defRPr/>
              </a:pPr>
              <a:t>10</a:t>
            </a:fld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0446ADDE-4300-41D5-B9C5-8E50570C9417}"/>
              </a:ext>
            </a:extLst>
          </p:cNvPr>
          <p:cNvSpPr/>
          <p:nvPr/>
        </p:nvSpPr>
        <p:spPr>
          <a:xfrm>
            <a:off x="330696" y="3723878"/>
            <a:ext cx="8273752" cy="86793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0" dirty="0"/>
              <a:t>RMS show shock downstream, but similar amplitudes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0" dirty="0"/>
              <a:t>Good agreement in separated region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0" dirty="0"/>
              <a:t>Power Spectral Density: very </a:t>
            </a:r>
            <a:r>
              <a:rPr lang="en-US" sz="1400" b="0" dirty="0" smtClean="0"/>
              <a:t>good </a:t>
            </a:r>
            <a:r>
              <a:rPr lang="en-US" sz="1400" b="0" dirty="0"/>
              <a:t>agreement for the main buffet frequency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xmlns="" id="{6713703F-4C63-4D17-933F-95E3800DA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2" y="987574"/>
            <a:ext cx="4220326" cy="241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F9990130-4233-4155-8EBE-2408A8E4097A}"/>
              </a:ext>
            </a:extLst>
          </p:cNvPr>
          <p:cNvSpPr/>
          <p:nvPr/>
        </p:nvSpPr>
        <p:spPr>
          <a:xfrm>
            <a:off x="4672148" y="3400200"/>
            <a:ext cx="421925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b="0" dirty="0"/>
              <a:t>Power Spectral density of all unsteady cases at </a:t>
            </a:r>
            <a:r>
              <a:rPr lang="en-US" sz="900" b="0" dirty="0"/>
              <a:t>3.50°</a:t>
            </a:r>
            <a:endParaRPr lang="en-GB" sz="900" b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1FD25617-5456-41B6-BA82-93F84AB15363}"/>
              </a:ext>
            </a:extLst>
          </p:cNvPr>
          <p:cNvSpPr/>
          <p:nvPr/>
        </p:nvSpPr>
        <p:spPr>
          <a:xfrm>
            <a:off x="251519" y="3398727"/>
            <a:ext cx="421925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b="0" dirty="0"/>
              <a:t>RMS on suction side for all unsteady cases at </a:t>
            </a:r>
            <a:r>
              <a:rPr lang="en-US" sz="900" b="0" dirty="0"/>
              <a:t>3.50°</a:t>
            </a:r>
            <a:endParaRPr lang="en-GB" sz="900" b="0" dirty="0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xmlns="" id="{07DD5BF3-7442-41AF-B55B-365E85B2B5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222" y="988836"/>
            <a:ext cx="4219258" cy="240947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B9A404D8-9618-4CCB-BD16-E4A10240A0D9}"/>
              </a:ext>
            </a:extLst>
          </p:cNvPr>
          <p:cNvSpPr/>
          <p:nvPr/>
        </p:nvSpPr>
        <p:spPr>
          <a:xfrm>
            <a:off x="330239" y="565524"/>
            <a:ext cx="8483522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b="0" dirty="0"/>
              <a:t>Focus on all grids, using best practices for time-accurate simulations. </a:t>
            </a:r>
            <a:r>
              <a:rPr lang="en-US" sz="1400" b="0" dirty="0" err="1"/>
              <a:t>AoA</a:t>
            </a:r>
            <a:r>
              <a:rPr lang="en-US" sz="1400" b="0" dirty="0"/>
              <a:t> = 3.50°</a:t>
            </a:r>
          </a:p>
        </p:txBody>
      </p:sp>
    </p:spTree>
    <p:extLst>
      <p:ext uri="{BB962C8B-B14F-4D97-AF65-F5344CB8AC3E}">
        <p14:creationId xmlns:p14="http://schemas.microsoft.com/office/powerpoint/2010/main" val="29781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51519" y="0"/>
            <a:ext cx="8574983" cy="483518"/>
          </a:xfrm>
        </p:spPr>
        <p:txBody>
          <a:bodyPr/>
          <a:lstStyle/>
          <a:p>
            <a:r>
              <a:rPr lang="en-GB" dirty="0"/>
              <a:t>URANS results using elsA: buffet onset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EDFC2C-F9B9-0445-A511-DA4552EF3EEB}" type="slidenum">
              <a:rPr lang="fr-FR" smtClean="0"/>
              <a:pPr>
                <a:defRPr/>
              </a:pPr>
              <a:t>11</a:t>
            </a:fld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0446ADDE-4300-41D5-B9C5-8E50570C9417}"/>
              </a:ext>
            </a:extLst>
          </p:cNvPr>
          <p:cNvSpPr/>
          <p:nvPr/>
        </p:nvSpPr>
        <p:spPr>
          <a:xfrm>
            <a:off x="6228185" y="1328542"/>
            <a:ext cx="2880319" cy="241912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0" dirty="0"/>
              <a:t>Buffet criterion: CL oscillations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0" dirty="0"/>
              <a:t>No grid convergence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0" dirty="0"/>
              <a:t>Coarse grids: onset sooner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0" dirty="0" err="1" smtClean="0"/>
              <a:t>Unst</a:t>
            </a:r>
            <a:r>
              <a:rPr lang="en-US" sz="1400" b="0" dirty="0" smtClean="0"/>
              <a:t>. </a:t>
            </a:r>
            <a:r>
              <a:rPr lang="en-US" sz="1400" b="0" dirty="0"/>
              <a:t>grids: </a:t>
            </a:r>
            <a:r>
              <a:rPr lang="en-US" sz="1400" b="0" dirty="0" smtClean="0"/>
              <a:t>~ onset </a:t>
            </a:r>
            <a:r>
              <a:rPr lang="en-US" sz="1400" b="0" dirty="0"/>
              <a:t>sooner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0" dirty="0"/>
              <a:t>Some grids never show buffet!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xmlns="" id="{6713703F-4C63-4D17-933F-95E3800DA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67" y="874459"/>
            <a:ext cx="6093725" cy="348268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1FD25617-5456-41B6-BA82-93F84AB15363}"/>
              </a:ext>
            </a:extLst>
          </p:cNvPr>
          <p:cNvSpPr/>
          <p:nvPr/>
        </p:nvSpPr>
        <p:spPr>
          <a:xfrm>
            <a:off x="206465" y="4357142"/>
            <a:ext cx="609372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b="0" dirty="0"/>
              <a:t>Buffet onset criterion: increase of STD of lift coefficient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BED54E8-DCB3-4F07-9250-09AD729A912E}"/>
              </a:ext>
            </a:extLst>
          </p:cNvPr>
          <p:cNvSpPr/>
          <p:nvPr/>
        </p:nvSpPr>
        <p:spPr>
          <a:xfrm>
            <a:off x="6480211" y="3970921"/>
            <a:ext cx="2376265" cy="46166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b="0" dirty="0">
                <a:solidFill>
                  <a:srgbClr val="FF0000"/>
                </a:solidFill>
              </a:rPr>
              <a:t>Conclusion: very hard to select the best grid or refinement level</a:t>
            </a:r>
          </a:p>
        </p:txBody>
      </p:sp>
    </p:spTree>
    <p:extLst>
      <p:ext uri="{BB962C8B-B14F-4D97-AF65-F5344CB8AC3E}">
        <p14:creationId xmlns:p14="http://schemas.microsoft.com/office/powerpoint/2010/main" val="7291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6" grpId="0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51519" y="0"/>
            <a:ext cx="8574983" cy="483518"/>
          </a:xfrm>
        </p:spPr>
        <p:txBody>
          <a:bodyPr/>
          <a:lstStyle/>
          <a:p>
            <a:r>
              <a:rPr lang="en-GB" dirty="0"/>
              <a:t>Conclusions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EDFC2C-F9B9-0445-A511-DA4552EF3EEB}" type="slidenum">
              <a:rPr lang="fr-FR" smtClean="0"/>
              <a:pPr>
                <a:defRPr/>
              </a:pPr>
              <a:t>12</a:t>
            </a:fld>
            <a:endParaRPr lang="fr-FR" dirty="0"/>
          </a:p>
        </p:txBody>
      </p:sp>
      <p:sp>
        <p:nvSpPr>
          <p:cNvPr id="14" name="Rectangle 13"/>
          <p:cNvSpPr/>
          <p:nvPr/>
        </p:nvSpPr>
        <p:spPr>
          <a:xfrm>
            <a:off x="251520" y="566044"/>
            <a:ext cx="6768752" cy="1323439"/>
          </a:xfrm>
          <a:prstGeom prst="rect">
            <a:avLst/>
          </a:prstGeom>
          <a:ln>
            <a:solidFill>
              <a:srgbClr val="00509A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Recap of work performed: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Started </a:t>
            </a:r>
            <a:r>
              <a:rPr lang="en-US" sz="1400" b="0" dirty="0" err="1"/>
              <a:t>elsA</a:t>
            </a:r>
            <a:r>
              <a:rPr lang="en-US" sz="1400" b="0" dirty="0"/>
              <a:t> “best practices”, no buffet at 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Moved to second order for conservatives, first for turbulent equation(s):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0" dirty="0"/>
              <a:t>RANS: poor residual convergence for high </a:t>
            </a:r>
            <a:r>
              <a:rPr lang="en-US" sz="1200" b="0" dirty="0" err="1"/>
              <a:t>AoA</a:t>
            </a:r>
            <a:r>
              <a:rPr lang="en-US" sz="1200" b="0" dirty="0"/>
              <a:t>, need for time-accurate simulations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0" dirty="0"/>
              <a:t>URANS: tested all grids with “standard best practices” (only few of them are unsteady)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0" dirty="0"/>
              <a:t>URANS: some extra simulations for </a:t>
            </a:r>
            <a:r>
              <a:rPr lang="en-US" sz="1200" b="0" dirty="0" err="1"/>
              <a:t>tStep</a:t>
            </a:r>
            <a:r>
              <a:rPr lang="en-US" sz="1200" b="0" dirty="0"/>
              <a:t>, inner-iterations, model, scheme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0446ADDE-4300-41D5-B9C5-8E50570C9417}"/>
              </a:ext>
            </a:extLst>
          </p:cNvPr>
          <p:cNvSpPr/>
          <p:nvPr/>
        </p:nvSpPr>
        <p:spPr>
          <a:xfrm>
            <a:off x="251520" y="1910318"/>
            <a:ext cx="8496944" cy="267765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dirty="0"/>
              <a:t>Conclusions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b="0" dirty="0"/>
              <a:t> </a:t>
            </a:r>
            <a:r>
              <a:rPr lang="en-US" sz="1600" b="0" dirty="0"/>
              <a:t>Very strong grid dependency, even at low AoA: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0" dirty="0"/>
              <a:t>When changing the grid, the behavior changes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0" dirty="0"/>
              <a:t>No grid convergence: </a:t>
            </a:r>
            <a:r>
              <a:rPr lang="en-US" sz="1400" b="0" dirty="0" smtClean="0"/>
              <a:t>if we refine we get </a:t>
            </a:r>
            <a:r>
              <a:rPr lang="en-US" sz="1400" b="0" dirty="0"/>
              <a:t>different results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0" dirty="0"/>
              <a:t>Time-step and inner iteration: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0" dirty="0"/>
              <a:t>Fairly stable. Minimum number of iteration per period required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0" dirty="0"/>
              <a:t>Buffet simulations: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0" dirty="0"/>
              <a:t>Shock always slightly downstream </a:t>
            </a:r>
            <a:r>
              <a:rPr lang="en-US" sz="1400" b="0" dirty="0" err="1"/>
              <a:t>w.r.t.</a:t>
            </a:r>
            <a:r>
              <a:rPr lang="en-US" sz="1400" b="0" dirty="0"/>
              <a:t> experiments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0" dirty="0"/>
              <a:t>Buffet frequency and shock amplitudes </a:t>
            </a:r>
            <a:r>
              <a:rPr lang="en-US" sz="1400" b="0" dirty="0" smtClean="0"/>
              <a:t>fairly well captured and consistent</a:t>
            </a:r>
            <a:endParaRPr lang="en-US" sz="1400" b="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0" dirty="0"/>
              <a:t>Onset depends </a:t>
            </a:r>
            <a:r>
              <a:rPr lang="en-US" sz="1400" b="0" dirty="0" smtClean="0"/>
              <a:t>both on </a:t>
            </a:r>
            <a:r>
              <a:rPr lang="en-US" sz="1400" b="0" dirty="0"/>
              <a:t>grid family and grid level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0" dirty="0"/>
              <a:t>“Best grid”: hard to tell, but </a:t>
            </a:r>
            <a:r>
              <a:rPr lang="en-US" sz="1600" b="0" dirty="0" smtClean="0"/>
              <a:t>O-grids </a:t>
            </a:r>
            <a:r>
              <a:rPr lang="en-US" sz="1600" b="0" dirty="0"/>
              <a:t>(20-40k cells/vertex) can give satisfying results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07DD5BF3-7442-41AF-B55B-365E85B2B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2" y="2027893"/>
            <a:ext cx="3149051" cy="180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5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51519" y="0"/>
            <a:ext cx="8574983" cy="483518"/>
          </a:xfrm>
        </p:spPr>
        <p:txBody>
          <a:bodyPr/>
          <a:lstStyle/>
          <a:p>
            <a:r>
              <a:rPr lang="en-GB" dirty="0"/>
              <a:t>URANS using </a:t>
            </a:r>
            <a:r>
              <a:rPr lang="en-GB" dirty="0" err="1"/>
              <a:t>elsA</a:t>
            </a:r>
            <a:r>
              <a:rPr lang="en-GB" dirty="0"/>
              <a:t>: choice of the parameters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EDFC2C-F9B9-0445-A511-DA4552EF3EEB}" type="slidenum">
              <a:rPr lang="fr-FR" smtClean="0"/>
              <a:pPr>
                <a:defRPr/>
              </a:pPr>
              <a:t>13</a:t>
            </a:fld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0446ADDE-4300-41D5-B9C5-8E50570C9417}"/>
              </a:ext>
            </a:extLst>
          </p:cNvPr>
          <p:cNvSpPr/>
          <p:nvPr/>
        </p:nvSpPr>
        <p:spPr>
          <a:xfrm>
            <a:off x="251518" y="666262"/>
            <a:ext cx="4608514" cy="121693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/>
              <a:t>Check of best practices commonly used for OAT15A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Test on ONERA O-grid unstructured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Time step = 1e-5 and 1e-6 sec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Number of inner iterations: fixed (between 3 and 60) or with convergence criterion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5DA820C2-65BC-4A23-8C93-ADC95B7F1461}"/>
              </a:ext>
            </a:extLst>
          </p:cNvPr>
          <p:cNvSpPr/>
          <p:nvPr/>
        </p:nvSpPr>
        <p:spPr>
          <a:xfrm>
            <a:off x="4932039" y="2988990"/>
            <a:ext cx="406914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b="0" dirty="0"/>
              <a:t>Time-history of lift with different limiters, time-step and inner-iterations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C03F5C3C-05EE-48AC-A8F1-E79C9509A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077" y="666262"/>
            <a:ext cx="4067071" cy="232720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0348D875-6502-4ECF-8FBB-B3BC4ABD005B}"/>
              </a:ext>
            </a:extLst>
          </p:cNvPr>
          <p:cNvSpPr/>
          <p:nvPr/>
        </p:nvSpPr>
        <p:spPr>
          <a:xfrm>
            <a:off x="251518" y="3340428"/>
            <a:ext cx="8352930" cy="121693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/>
              <a:t>Conclusion</a:t>
            </a:r>
            <a:r>
              <a:rPr lang="en-US" sz="1400" b="0" dirty="0"/>
              <a:t>:</a:t>
            </a:r>
          </a:p>
          <a:p>
            <a:pPr>
              <a:lnSpc>
                <a:spcPct val="120000"/>
              </a:lnSpc>
            </a:pPr>
            <a:r>
              <a:rPr lang="en-US" sz="1200" b="0" dirty="0"/>
              <a:t>Better to keep </a:t>
            </a:r>
            <a:r>
              <a:rPr lang="en-US" sz="1200" b="0" u="sng" dirty="0"/>
              <a:t>small time step</a:t>
            </a:r>
            <a:r>
              <a:rPr lang="en-US" sz="1200" b="0" dirty="0"/>
              <a:t> (1e-6 s), limiter on both res (1e-4) and </a:t>
            </a:r>
            <a:r>
              <a:rPr lang="en-US" sz="1200" b="0" u="sng" dirty="0"/>
              <a:t>few max inner iterations</a:t>
            </a:r>
            <a:r>
              <a:rPr lang="en-US" sz="1200" b="0" dirty="0"/>
              <a:t> (8)</a:t>
            </a:r>
            <a:endParaRPr lang="en-US" sz="1200" dirty="0"/>
          </a:p>
          <a:p>
            <a:pPr>
              <a:lnSpc>
                <a:spcPct val="120000"/>
              </a:lnSpc>
            </a:pPr>
            <a:r>
              <a:rPr lang="en-US" sz="1200" b="0" dirty="0"/>
              <a:t>Buffet frequency ~ 70 Hz </a:t>
            </a:r>
            <a:r>
              <a:rPr lang="en-US" sz="1200" b="0" dirty="0">
                <a:sym typeface="Wingdings" panose="05000000000000000000" pitchFamily="2" charset="2"/>
              </a:rPr>
              <a:t> buffet period ~ 0,014 sec</a:t>
            </a:r>
            <a:endParaRPr lang="en-US" sz="1200" b="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Time step 1e-5 with 30 inner iterations </a:t>
            </a:r>
            <a:r>
              <a:rPr lang="en-US" sz="1200" b="0" dirty="0">
                <a:sym typeface="Wingdings" panose="05000000000000000000" pitchFamily="2" charset="2"/>
              </a:rPr>
              <a:t>  ~1,500 “expensive” steps/period</a:t>
            </a:r>
            <a:endParaRPr lang="en-US" sz="1200" b="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Time step 1e-6 with   8 inner iterations </a:t>
            </a:r>
            <a:r>
              <a:rPr lang="en-US" sz="1200" b="0" dirty="0">
                <a:sym typeface="Wingdings" panose="05000000000000000000" pitchFamily="2" charset="2"/>
              </a:rPr>
              <a:t>  ~15,000 “cheap” steps/period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884732DB-0D7F-4FE2-A7DC-E42E6BDD52FE}"/>
              </a:ext>
            </a:extLst>
          </p:cNvPr>
          <p:cNvSpPr/>
          <p:nvPr/>
        </p:nvSpPr>
        <p:spPr>
          <a:xfrm>
            <a:off x="251518" y="1883198"/>
            <a:ext cx="4608512" cy="14588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/>
              <a:t>Result: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 smtClean="0"/>
              <a:t>Min. </a:t>
            </a:r>
            <a:r>
              <a:rPr lang="en-US" sz="1200" b="0" dirty="0"/>
              <a:t>number of [steps] </a:t>
            </a:r>
            <a:r>
              <a:rPr lang="en-US" sz="1200" b="0" i="1" dirty="0"/>
              <a:t>x</a:t>
            </a:r>
            <a:r>
              <a:rPr lang="en-US" sz="1200" b="0" dirty="0"/>
              <a:t> [</a:t>
            </a:r>
            <a:r>
              <a:rPr lang="en-US" sz="1200" b="0" dirty="0" smtClean="0"/>
              <a:t>inner-it] needed for observing buffet</a:t>
            </a:r>
            <a:endParaRPr lang="en-US" sz="1200" b="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Similar transient (if buffet is observed)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No impacts on shock average position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Small impact on shock-motions amplitude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Slight difference in main buffet frequency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DB53E6E8-13ED-49BC-B79C-AEA3B079F6D1}"/>
              </a:ext>
            </a:extLst>
          </p:cNvPr>
          <p:cNvSpPr/>
          <p:nvPr/>
        </p:nvSpPr>
        <p:spPr>
          <a:xfrm rot="1792290">
            <a:off x="7199730" y="3724167"/>
            <a:ext cx="1639462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900" b="0" dirty="0">
                <a:solidFill>
                  <a:srgbClr val="FF0000"/>
                </a:solidFill>
              </a:rPr>
              <a:t>Check later for grid-dependency</a:t>
            </a:r>
          </a:p>
        </p:txBody>
      </p:sp>
    </p:spTree>
    <p:extLst>
      <p:ext uri="{BB962C8B-B14F-4D97-AF65-F5344CB8AC3E}">
        <p14:creationId xmlns:p14="http://schemas.microsoft.com/office/powerpoint/2010/main" val="163753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9" grpId="0"/>
      <p:bldP spid="25" grpId="0"/>
      <p:bldP spid="26" grpId="0"/>
      <p:bldP spid="28" grpId="0" animBg="1"/>
    </p:bldLst>
  </p:timing>
</p:sld>
</file>

<file path=ppt/theme/theme1.xml><?xml version="1.0" encoding="utf-8"?>
<a:theme xmlns:a="http://schemas.openxmlformats.org/drawingml/2006/main" name="Titres soulignés ou pas">
  <a:themeElements>
    <a:clrScheme name="Nouvelle pré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ouvelle présentation">
      <a:majorFont>
        <a:latin typeface="Arial"/>
        <a:ea typeface="ＭＳ Ｐゴシック"/>
        <a:cs typeface="Geneva"/>
      </a:majorFont>
      <a:minorFont>
        <a:latin typeface="Arial"/>
        <a:ea typeface="ＭＳ Ｐゴシック"/>
        <a:cs typeface="Genev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Genev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Geneva" charset="0"/>
          </a:defRPr>
        </a:defPPr>
      </a:lstStyle>
    </a:lnDef>
  </a:objectDefaults>
  <a:extraClrSchemeLst>
    <a:extraClrScheme>
      <a:clrScheme name="Nouvelle pré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8578</TotalTime>
  <Words>1352</Words>
  <Application>Microsoft Office PowerPoint</Application>
  <PresentationFormat>Affichage à l'écran (16:9)</PresentationFormat>
  <Paragraphs>209</Paragraphs>
  <Slides>14</Slides>
  <Notes>13</Notes>
  <HiddenSlides>1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Titres soulignés ou pas</vt:lpstr>
      <vt:lpstr>Review of 2D buffet simulations on OAT15A profile</vt:lpstr>
      <vt:lpstr>Outline</vt:lpstr>
      <vt:lpstr>Introduction: DPW-8</vt:lpstr>
      <vt:lpstr>Introduction: Test case 1</vt:lpstr>
      <vt:lpstr>Introduction: available grids</vt:lpstr>
      <vt:lpstr>Introduction: simulations completed</vt:lpstr>
      <vt:lpstr>RANS results using elsA</vt:lpstr>
      <vt:lpstr>RANS results using elsA</vt:lpstr>
      <vt:lpstr>URANS results using elsA: time-accurate simulations</vt:lpstr>
      <vt:lpstr>URANS results using elsA: average Cp</vt:lpstr>
      <vt:lpstr>URANS results using elsA: fluctuations</vt:lpstr>
      <vt:lpstr>URANS results using elsA: buffet onset</vt:lpstr>
      <vt:lpstr>Conclusions</vt:lpstr>
      <vt:lpstr>URANS using elsA: choice of the parameters</vt:lpstr>
    </vt:vector>
  </TitlesOfParts>
  <Company>ONERA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Philippe Bernou</dc:creator>
  <cp:lastModifiedBy>Sartor Fulvio</cp:lastModifiedBy>
  <cp:revision>557</cp:revision>
  <dcterms:created xsi:type="dcterms:W3CDTF">2020-09-14T08:12:08Z</dcterms:created>
  <dcterms:modified xsi:type="dcterms:W3CDTF">2026-06-04T12:25:42Z</dcterms:modified>
</cp:coreProperties>
</file>